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4630400" cy="8229600"/>
  <p:notesSz cx="8229600" cy="14630400"/>
  <p:embeddedFontLst>
    <p:embeddedFont>
      <p:font typeface="DM Sans Medium" pitchFamily="2" charset="77"/>
      <p:regular r:id="rId14"/>
    </p:embeddedFont>
    <p:embeddedFont>
      <p:font typeface="Inter" panose="02000503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E1468-5E2B-0449-857A-54BA7EEB2F5D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EE75B-4DEA-DD4E-97C1-01E6493D7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28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4880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EEG-Based Brain–Computer Interface</a:t>
            </a:r>
            <a:r>
              <a:rPr lang="en-IN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</a:t>
            </a: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Controlling a Robotic Arm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15308"/>
            <a:ext cx="7325201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28282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498" y="3490913"/>
            <a:ext cx="703778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ASSISTIVE ROBOTICS FOR IMPROVEMENT OF LIFE QUALITY(SS26)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93790" y="3970139"/>
            <a:ext cx="297715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2828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7498" y="4045744"/>
            <a:ext cx="268974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MASTER'S ROBOTICS COURSE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3790" y="4666774"/>
            <a:ext cx="7556421" cy="2613898"/>
          </a:xfrm>
          <a:prstGeom prst="roundRect">
            <a:avLst>
              <a:gd name="adj" fmla="val 1302"/>
            </a:avLst>
          </a:prstGeom>
          <a:solidFill>
            <a:srgbClr val="EDEBE3"/>
          </a:solidFill>
          <a:ln/>
        </p:spPr>
      </p:sp>
      <p:sp>
        <p:nvSpPr>
          <p:cNvPr id="9" name="Shape 6"/>
          <p:cNvSpPr/>
          <p:nvPr/>
        </p:nvSpPr>
        <p:spPr>
          <a:xfrm>
            <a:off x="793790" y="4666774"/>
            <a:ext cx="3778210" cy="1306949"/>
          </a:xfrm>
          <a:prstGeom prst="roundRect">
            <a:avLst>
              <a:gd name="adj" fmla="val 2603"/>
            </a:avLst>
          </a:prstGeom>
          <a:solidFill>
            <a:srgbClr val="EDEBE3"/>
          </a:solidFill>
          <a:ln/>
        </p:spPr>
      </p:sp>
      <p:sp>
        <p:nvSpPr>
          <p:cNvPr id="10" name="Text 7"/>
          <p:cNvSpPr/>
          <p:nvPr/>
        </p:nvSpPr>
        <p:spPr>
          <a:xfrm>
            <a:off x="1020604" y="48935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Prajwal Dikonda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20604" y="5384006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Matriculation N</a:t>
            </a:r>
            <a:r>
              <a:rPr lang="en-IN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umber : 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22516691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4572000" y="4666774"/>
            <a:ext cx="3778210" cy="1306949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4666774"/>
            <a:ext cx="30480" cy="1306949"/>
          </a:xfrm>
          <a:prstGeom prst="roundRect">
            <a:avLst>
              <a:gd name="adj" fmla="val 111628"/>
            </a:avLst>
          </a:prstGeom>
          <a:solidFill>
            <a:srgbClr val="D3D1C9"/>
          </a:solidFill>
          <a:ln/>
        </p:spPr>
      </p:sp>
      <p:sp>
        <p:nvSpPr>
          <p:cNvPr id="14" name="Text 11"/>
          <p:cNvSpPr/>
          <p:nvPr/>
        </p:nvSpPr>
        <p:spPr>
          <a:xfrm>
            <a:off x="4798814" y="48935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Nishant Shetty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798814" y="5384006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Matriculation </a:t>
            </a:r>
            <a:r>
              <a:rPr lang="en-IN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: 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22566540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93790" y="5973723"/>
            <a:ext cx="7556421" cy="1306949"/>
          </a:xfrm>
          <a:prstGeom prst="rect">
            <a:avLst/>
          </a:prstGeom>
          <a:solidFill>
            <a:srgbClr val="EDEBE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793790" y="5973723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3D1C9"/>
          </a:solidFill>
          <a:ln/>
        </p:spPr>
      </p:sp>
      <p:sp>
        <p:nvSpPr>
          <p:cNvPr id="18" name="Text 15"/>
          <p:cNvSpPr/>
          <p:nvPr/>
        </p:nvSpPr>
        <p:spPr>
          <a:xfrm>
            <a:off x="1020604" y="62005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Papiha Dhavan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26064" y="6690955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Matriculation N</a:t>
            </a:r>
            <a:r>
              <a:rPr lang="en-IN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umber : 22514341</a:t>
            </a:r>
            <a:endParaRPr lang="en-US" sz="17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61FD08A6-ACCB-0DC2-8B76-ACAA85FE77DD}"/>
              </a:ext>
            </a:extLst>
          </p:cNvPr>
          <p:cNvSpPr/>
          <p:nvPr/>
        </p:nvSpPr>
        <p:spPr>
          <a:xfrm>
            <a:off x="2924949" y="6682972"/>
            <a:ext cx="33245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5425" y="689372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Overview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55425" y="1695212"/>
            <a:ext cx="7605951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bridges the gap between </a:t>
            </a: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intent</a:t>
            </a: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action</a:t>
            </a: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enabling a robotic arm to be controlled entirely through brain signals, without any physical movement.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5425" y="2972991"/>
            <a:ext cx="439460" cy="4394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60870" y="3048476"/>
            <a:ext cx="2887266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EEG Signal Acquisition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6960870" y="3519368"/>
            <a:ext cx="690050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electroencephalography signals are captured from the scalp during motor imagery tasks.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5425" y="4637246"/>
            <a:ext cx="439460" cy="4394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60870" y="4712732"/>
            <a:ext cx="4341138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Signal Processing &amp; Classification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6960870" y="5183624"/>
            <a:ext cx="690050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are filtered, features extracted, and classified into discrete movement commands.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5425" y="6301502"/>
            <a:ext cx="439460" cy="4394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60870" y="6376987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Robotic Arm Control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6960870" y="6847880"/>
            <a:ext cx="690050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Classified commands drive a multi-DOF robotic arm for assistive, real-world tasks.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158" y="623411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Problem Statement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8158" y="1565910"/>
            <a:ext cx="7680484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Paralysis severs the link between </a:t>
            </a:r>
            <a:r>
              <a:rPr lang="en-US" sz="16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 and body</a:t>
            </a: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yet the brain's intention to move remains intact. Individuals with motor disabilities struggle with fundamental daily tasks: grasping objects, reaching, and holding.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18158" y="2851309"/>
            <a:ext cx="7680484" cy="689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5M+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751451" y="3790355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Living with Paralysis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218158" y="4232553"/>
            <a:ext cx="76804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United States alone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18158" y="5043964"/>
            <a:ext cx="7680484" cy="689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15M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751451" y="598301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Strokes per Year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6218158" y="6425208"/>
            <a:ext cx="76804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estimate (WHO)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18158" y="6963370"/>
            <a:ext cx="768048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cortex activity persists even after injury — BCI systems can decode this latent intent.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72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Motivation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16179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1816179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073473"/>
            <a:ext cx="3017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Restore Independence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256389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 individuals to perform daily tasks without reliance on a caregiver or physical assistance.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3773805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377380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4031099"/>
            <a:ext cx="41367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Reduce Caregiver Dependency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8924" y="452151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the social and economic burden on families and healthcare systems by enabling self-sufficiency.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731431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573143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28282F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988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Growing Demand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647914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ageing global population and rising stroke incidence create urgent need for scalable assistive solutions.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63047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23737" y="1371600"/>
            <a:ext cx="1198280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</a:t>
            </a:r>
            <a:r>
              <a:rPr lang="en-US" sz="13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EEG-based Brain–Computer Interface (BCI)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decodes motor imagery signals and maps them to discrete robotic arm commands — enabling real-time, hands-free control.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2011680"/>
            <a:ext cx="11982807" cy="52600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56525" y="5819620"/>
            <a:ext cx="2100448" cy="32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Brain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356525" y="6236535"/>
            <a:ext cx="2100448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 motor imagery signals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53937" y="5968028"/>
            <a:ext cx="2100448" cy="32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Robotic Arm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253937" y="6384944"/>
            <a:ext cx="2100448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Reach, grasp, move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22542" y="2563276"/>
            <a:ext cx="2100448" cy="324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BCI Processing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22542" y="2980192"/>
            <a:ext cx="2100448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Filter, extract, classify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3737" y="7421285"/>
            <a:ext cx="119828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is designed to be lightweight, modular, and extendable — suitable for real-time embedded deployment on assistive hardware.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Architecture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58854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Pipeline Stages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4014907"/>
            <a:ext cx="6015395" cy="150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 Acquisition: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Motor imagery captured via scalp electrodes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Bandpass filtering (8–30 Hz), artefact removal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Extraction: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ERD/ERS patterns, power spectral density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SVM or Logistic Regression decoder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Execution:</a:t>
            </a: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Mapped to robotic joint movements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Methodology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695337"/>
            <a:ext cx="226814" cy="2268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EEG Data Acquisition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imagery dataset (e.g., BCI Competition IV) or a physical EEG headset used for signal capture.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8548" y="2695337"/>
            <a:ext cx="226814" cy="2268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9" name="Text 5"/>
          <p:cNvSpPr/>
          <p:nvPr/>
        </p:nvSpPr>
        <p:spPr>
          <a:xfrm>
            <a:off x="7428548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Signal Preprocessing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Bandpass filtering (8–30 Hz) removes noise; ICA eliminates ocular and muscular artefacts.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837748"/>
            <a:ext cx="226814" cy="22681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3" name="Text 8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 Extraction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Event-related desynchronisation (ERD) and power spectral density computed per trial window.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8548" y="4837748"/>
            <a:ext cx="226814" cy="22681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7" name="Text 11"/>
          <p:cNvSpPr/>
          <p:nvPr/>
        </p:nvSpPr>
        <p:spPr>
          <a:xfrm>
            <a:off x="7428548" y="5338763"/>
            <a:ext cx="47839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Classification &amp; Command Mapping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 or Logistic Regression classifies intent; output is mapped to one of seven arm movement commands.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00301"/>
            <a:ext cx="514623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Robotic Arm Movements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1201460" y="1330881"/>
            <a:ext cx="1222736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essential degrees of freedom enable a full repertoire of </a:t>
            </a:r>
            <a:r>
              <a:rPr lang="en-US" sz="13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assistive tasks</a:t>
            </a: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from reaching to object manipulation.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01460" y="1739027"/>
            <a:ext cx="3983474" cy="1636514"/>
          </a:xfrm>
          <a:prstGeom prst="roundRect">
            <a:avLst>
              <a:gd name="adj" fmla="val 1624"/>
            </a:avLst>
          </a:prstGeom>
          <a:solidFill>
            <a:srgbClr val="EDEBE3"/>
          </a:solidFill>
          <a:ln/>
        </p:spPr>
      </p:sp>
      <p:sp>
        <p:nvSpPr>
          <p:cNvPr id="5" name="Shape 3"/>
          <p:cNvSpPr/>
          <p:nvPr/>
        </p:nvSpPr>
        <p:spPr>
          <a:xfrm>
            <a:off x="1378625" y="1916192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28282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833" y="2062401"/>
            <a:ext cx="239197" cy="2391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8625" y="258615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Base Rotation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78625" y="2945963"/>
            <a:ext cx="362914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 / Right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323284" y="1739027"/>
            <a:ext cx="3983593" cy="1636514"/>
          </a:xfrm>
          <a:prstGeom prst="roundRect">
            <a:avLst>
              <a:gd name="adj" fmla="val 1624"/>
            </a:avLst>
          </a:prstGeom>
          <a:solidFill>
            <a:srgbClr val="EDEBE3"/>
          </a:solidFill>
          <a:ln/>
        </p:spPr>
      </p:sp>
      <p:sp>
        <p:nvSpPr>
          <p:cNvPr id="10" name="Shape 7"/>
          <p:cNvSpPr/>
          <p:nvPr/>
        </p:nvSpPr>
        <p:spPr>
          <a:xfrm>
            <a:off x="5500449" y="1916192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28282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6658" y="2062401"/>
            <a:ext cx="239197" cy="2391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0449" y="258615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Forward Reach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500449" y="2945963"/>
            <a:ext cx="362926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toward object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445228" y="1739027"/>
            <a:ext cx="3983474" cy="1636514"/>
          </a:xfrm>
          <a:prstGeom prst="roundRect">
            <a:avLst>
              <a:gd name="adj" fmla="val 1624"/>
            </a:avLst>
          </a:prstGeom>
          <a:solidFill>
            <a:srgbClr val="EDEBE3"/>
          </a:solidFill>
          <a:ln/>
        </p:spPr>
      </p:sp>
      <p:sp>
        <p:nvSpPr>
          <p:cNvPr id="15" name="Shape 11"/>
          <p:cNvSpPr/>
          <p:nvPr/>
        </p:nvSpPr>
        <p:spPr>
          <a:xfrm>
            <a:off x="9622393" y="1916192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28282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68602" y="2062401"/>
            <a:ext cx="239197" cy="23919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22393" y="258615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Backward Retract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622393" y="2945963"/>
            <a:ext cx="362914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to home position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1201460" y="3513892"/>
            <a:ext cx="3983474" cy="1636514"/>
          </a:xfrm>
          <a:prstGeom prst="roundRect">
            <a:avLst>
              <a:gd name="adj" fmla="val 1624"/>
            </a:avLst>
          </a:prstGeom>
          <a:solidFill>
            <a:srgbClr val="EDEBE3"/>
          </a:solidFill>
          <a:ln/>
        </p:spPr>
      </p:sp>
      <p:sp>
        <p:nvSpPr>
          <p:cNvPr id="20" name="Shape 15"/>
          <p:cNvSpPr/>
          <p:nvPr/>
        </p:nvSpPr>
        <p:spPr>
          <a:xfrm>
            <a:off x="1378625" y="3691057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28282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833" y="3837265"/>
            <a:ext cx="239197" cy="23919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8625" y="436102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Elbow Flex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378625" y="4720828"/>
            <a:ext cx="362914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/ Down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323284" y="3513892"/>
            <a:ext cx="3983593" cy="1636514"/>
          </a:xfrm>
          <a:prstGeom prst="roundRect">
            <a:avLst>
              <a:gd name="adj" fmla="val 1624"/>
            </a:avLst>
          </a:prstGeom>
          <a:solidFill>
            <a:srgbClr val="EDEBE3"/>
          </a:solidFill>
          <a:ln/>
        </p:spPr>
      </p:sp>
      <p:sp>
        <p:nvSpPr>
          <p:cNvPr id="25" name="Shape 19"/>
          <p:cNvSpPr/>
          <p:nvPr/>
        </p:nvSpPr>
        <p:spPr>
          <a:xfrm>
            <a:off x="5500449" y="3691057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28282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6658" y="3837265"/>
            <a:ext cx="239197" cy="23919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00449" y="436102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Wrist Rotation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5500449" y="4720828"/>
            <a:ext cx="362926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Palm supination / pronation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9445228" y="3513892"/>
            <a:ext cx="3983474" cy="1636514"/>
          </a:xfrm>
          <a:prstGeom prst="roundRect">
            <a:avLst>
              <a:gd name="adj" fmla="val 1624"/>
            </a:avLst>
          </a:prstGeom>
          <a:solidFill>
            <a:srgbClr val="EDEBE3"/>
          </a:solidFill>
          <a:ln/>
        </p:spPr>
      </p:sp>
      <p:sp>
        <p:nvSpPr>
          <p:cNvPr id="30" name="Shape 23"/>
          <p:cNvSpPr/>
          <p:nvPr/>
        </p:nvSpPr>
        <p:spPr>
          <a:xfrm>
            <a:off x="9622393" y="3691057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28282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68602" y="3837265"/>
            <a:ext cx="239197" cy="23919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622393" y="436102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Gripper Open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9622393" y="4720828"/>
            <a:ext cx="362914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object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1201460" y="5288756"/>
            <a:ext cx="12227243" cy="1636514"/>
          </a:xfrm>
          <a:prstGeom prst="roundRect">
            <a:avLst>
              <a:gd name="adj" fmla="val 1624"/>
            </a:avLst>
          </a:prstGeom>
          <a:solidFill>
            <a:srgbClr val="EDEBE3"/>
          </a:solidFill>
          <a:ln/>
        </p:spPr>
      </p:sp>
      <p:sp>
        <p:nvSpPr>
          <p:cNvPr id="35" name="Shape 27"/>
          <p:cNvSpPr/>
          <p:nvPr/>
        </p:nvSpPr>
        <p:spPr>
          <a:xfrm>
            <a:off x="1378625" y="5465921"/>
            <a:ext cx="531614" cy="531614"/>
          </a:xfrm>
          <a:prstGeom prst="roundRect">
            <a:avLst>
              <a:gd name="adj" fmla="val 17198730"/>
            </a:avLst>
          </a:prstGeom>
          <a:solidFill>
            <a:srgbClr val="28282F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24833" y="5612130"/>
            <a:ext cx="239197" cy="23919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78625" y="613588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Gripper Close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1378625" y="6495693"/>
            <a:ext cx="1187291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Grasp object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1201460" y="7081004"/>
            <a:ext cx="12227362" cy="648176"/>
          </a:xfrm>
          <a:prstGeom prst="roundRect">
            <a:avLst>
              <a:gd name="adj" fmla="val 4101"/>
            </a:avLst>
          </a:prstGeom>
          <a:solidFill>
            <a:srgbClr val="D6D6DC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8625" y="7337941"/>
            <a:ext cx="221456" cy="17716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777246" y="7263646"/>
            <a:ext cx="114744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movements collectively enable basic daily tasks such as reaching, grasping, and transporting objects.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13247"/>
            <a:ext cx="59521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Impact &amp; Applications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30436" y="2262188"/>
            <a:ext cx="3828217" cy="4754166"/>
          </a:xfrm>
          <a:prstGeom prst="roundRect">
            <a:avLst>
              <a:gd name="adj" fmla="val 889"/>
            </a:avLst>
          </a:prstGeom>
          <a:solidFill>
            <a:srgbClr val="28282F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2489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Immediate Benefits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57250" y="3070146"/>
            <a:ext cx="3374588" cy="3787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people with motor disabilities to perform daily tasks independently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Hands-free, non-invasive neural control where no physical movement required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 improves quality of life and reduces social isolation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2489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Extensions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070146"/>
            <a:ext cx="3501509" cy="386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Prosthetics: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Neuroprosthetic limb replacement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Exoskeletons: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Full-body motor rehabilitation support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Teleoperation: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Remote control in hazardous environments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BCI: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Haptic feedback integration for richer control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96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977158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Brain-controlled robotic systems represent a meaningful step forward in assistive technology — restoring agency to those the body can no longer serve.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22007"/>
            <a:ext cx="30480" cy="1236107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213265"/>
            <a:ext cx="4196358" cy="2456617"/>
          </a:xfrm>
          <a:prstGeom prst="roundRect">
            <a:avLst>
              <a:gd name="adj" fmla="val 1385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4470559"/>
            <a:ext cx="32139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We Demonstrated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960977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complete, end-to-end EEG-BCI pipeline — from signal acquisition through classification to robotic arm control.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213265"/>
            <a:ext cx="4196358" cy="2456617"/>
          </a:xfrm>
          <a:prstGeom prst="roundRect">
            <a:avLst>
              <a:gd name="adj" fmla="val 1385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4256" y="4470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4256" y="4960977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approach is non-invasive, modular, and scalable — accessible to both clinical and research settings.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4213265"/>
            <a:ext cx="4196358" cy="2456617"/>
          </a:xfrm>
          <a:prstGeom prst="roundRect">
            <a:avLst>
              <a:gd name="adj" fmla="val 1385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97427" y="4470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97427" y="4960977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EEG hardware integration, closed-loop feedback, and expanded motor imagery class vocabulary.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83181"/>
            <a:ext cx="6477238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 &amp; References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610791" y="1689021"/>
            <a:ext cx="6594634" cy="5857399"/>
          </a:xfrm>
          <a:prstGeom prst="roundRect">
            <a:avLst>
              <a:gd name="adj" fmla="val 563"/>
            </a:avLst>
          </a:prstGeom>
          <a:solidFill>
            <a:srgbClr val="28282F"/>
          </a:solidFill>
          <a:ln/>
        </p:spPr>
      </p:sp>
      <p:sp>
        <p:nvSpPr>
          <p:cNvPr id="4" name="Text 2"/>
          <p:cNvSpPr/>
          <p:nvPr/>
        </p:nvSpPr>
        <p:spPr>
          <a:xfrm>
            <a:off x="830461" y="190178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Takeaways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30461" y="2484477"/>
            <a:ext cx="494348" cy="494348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6" name="Text 4"/>
          <p:cNvSpPr/>
          <p:nvPr/>
        </p:nvSpPr>
        <p:spPr>
          <a:xfrm>
            <a:off x="1537573" y="255996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Proof of Concept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537573" y="3115985"/>
            <a:ext cx="544818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EEG-based BCI demonstrates a viable, non-invasive pathway from neural intent to robotic action.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0461" y="4233863"/>
            <a:ext cx="494348" cy="494348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9" name="Text 7"/>
          <p:cNvSpPr/>
          <p:nvPr/>
        </p:nvSpPr>
        <p:spPr>
          <a:xfrm>
            <a:off x="1537573" y="4309348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Scalable &amp; Modular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537573" y="4865370"/>
            <a:ext cx="544818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pipeline stage is independently upgradeable — from better classifiers to more DoF robotic arms.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0461" y="5983248"/>
            <a:ext cx="494348" cy="494348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1537573" y="605873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Clinically Meaningful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1537573" y="6614755"/>
            <a:ext cx="544818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 addresses an unmet need for millions of individuals living with paralysis worldwide.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90830" y="190178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References</a:t>
            </a:r>
            <a:endParaRPr lang="en-US" sz="2150" dirty="0"/>
          </a:p>
        </p:txBody>
      </p:sp>
      <p:sp>
        <p:nvSpPr>
          <p:cNvPr id="15" name="Shape 13"/>
          <p:cNvSpPr/>
          <p:nvPr/>
        </p:nvSpPr>
        <p:spPr>
          <a:xfrm>
            <a:off x="7560350" y="2453997"/>
            <a:ext cx="60960" cy="1099304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6" name="Text 14"/>
          <p:cNvSpPr/>
          <p:nvPr/>
        </p:nvSpPr>
        <p:spPr>
          <a:xfrm>
            <a:off x="7871460" y="2484477"/>
            <a:ext cx="2725460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r>
              <a:rPr lang="en-IN" sz="1700" b="1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orld</a:t>
            </a:r>
            <a:r>
              <a:rPr lang="en-IN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r>
              <a:rPr lang="en-IN" sz="1700" b="1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ealth</a:t>
            </a:r>
            <a:r>
              <a:rPr lang="en-IN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r>
              <a:rPr lang="en-IN" sz="1700" b="1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rganization</a:t>
            </a: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Stroke and neurological disorder global statistics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832425" y="2453997"/>
            <a:ext cx="60960" cy="1099304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8" name="Text 16"/>
          <p:cNvSpPr/>
          <p:nvPr/>
        </p:nvSpPr>
        <p:spPr>
          <a:xfrm>
            <a:off x="11143536" y="2484477"/>
            <a:ext cx="272546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Nations</a:t>
            </a: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World Population Ageing Report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560350" y="3917990"/>
            <a:ext cx="60960" cy="1099304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20" name="Text 18"/>
          <p:cNvSpPr/>
          <p:nvPr/>
        </p:nvSpPr>
        <p:spPr>
          <a:xfrm>
            <a:off x="7871460" y="3948470"/>
            <a:ext cx="272546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r>
              <a:rPr lang="en-IN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enters for Disease </a:t>
            </a: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r>
              <a:rPr lang="en-IN" sz="1700" b="1" dirty="0" err="1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ontrol</a:t>
            </a:r>
            <a:r>
              <a:rPr lang="en-IN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Prevention</a:t>
            </a: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Disability and paralysis prevalence data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832425" y="3917990"/>
            <a:ext cx="60960" cy="1099304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3536" y="3948470"/>
            <a:ext cx="2725460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Christopher &amp; Dana Reeve Foundation</a:t>
            </a: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Paralysis statistics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560350" y="5381982"/>
            <a:ext cx="60960" cy="753189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24" name="Text 22"/>
          <p:cNvSpPr/>
          <p:nvPr/>
        </p:nvSpPr>
        <p:spPr>
          <a:xfrm>
            <a:off x="7871460" y="5412462"/>
            <a:ext cx="599753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Institute on Aging (NIA)</a:t>
            </a: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Ageing and daily living assistance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793428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Prajwal Dikonda</cp:lastModifiedBy>
  <cp:revision>4</cp:revision>
  <dcterms:created xsi:type="dcterms:W3CDTF">2026-04-10T10:18:20Z</dcterms:created>
  <dcterms:modified xsi:type="dcterms:W3CDTF">2026-04-10T10:55:09Z</dcterms:modified>
</cp:coreProperties>
</file>