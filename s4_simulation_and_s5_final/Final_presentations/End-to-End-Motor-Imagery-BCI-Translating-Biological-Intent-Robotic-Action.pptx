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bg1"/>
                </a:solidFill>
                <a:latin typeface="DM Sans"/>
                <a:cs typeface="DM San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bg1"/>
                </a:solidFill>
                <a:latin typeface="DM Sans"/>
                <a:cs typeface="DM San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" y="0"/>
            <a:ext cx="18287967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5866" y="1606411"/>
            <a:ext cx="16476266" cy="726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9374" y="3433161"/>
            <a:ext cx="7382509" cy="559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bg1"/>
                </a:solidFill>
                <a:latin typeface="DM Sans"/>
                <a:cs typeface="DM San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18591" y="7685391"/>
              <a:ext cx="8787765" cy="0"/>
            </a:xfrm>
            <a:custGeom>
              <a:avLst/>
              <a:gdLst/>
              <a:ahLst/>
              <a:cxnLst/>
              <a:rect l="l" t="t" r="r" b="b"/>
              <a:pathLst>
                <a:path w="8787765" h="0">
                  <a:moveTo>
                    <a:pt x="8787384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6077908" y="561158"/>
            <a:ext cx="1304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solidFill>
                  <a:srgbClr val="F7F7F7"/>
                </a:solidFill>
                <a:latin typeface="DM Sans 18pt"/>
                <a:cs typeface="DM Sans 18pt"/>
              </a:rPr>
              <a:t>09/07/2026</a:t>
            </a:r>
            <a:endParaRPr sz="1800">
              <a:latin typeface="DM Sans 18pt"/>
              <a:cs typeface="DM Sans 18p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5955" y="557958"/>
            <a:ext cx="1566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7F7F7"/>
                </a:solidFill>
                <a:latin typeface="DM Sans 18pt"/>
                <a:cs typeface="DM Sans 18pt"/>
              </a:rPr>
              <a:t>Nishant </a:t>
            </a:r>
            <a:r>
              <a:rPr dirty="0" sz="1800" spc="-10">
                <a:solidFill>
                  <a:srgbClr val="F7F7F7"/>
                </a:solidFill>
                <a:latin typeface="DM Sans 18pt"/>
                <a:cs typeface="DM Sans 18pt"/>
              </a:rPr>
              <a:t>shetty</a:t>
            </a:r>
            <a:endParaRPr sz="1800">
              <a:latin typeface="DM Sans 18pt"/>
              <a:cs typeface="DM Sans 18p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5892" y="4201404"/>
            <a:ext cx="12924155" cy="3322320"/>
          </a:xfrm>
          <a:prstGeom prst="rect">
            <a:avLst/>
          </a:prstGeom>
        </p:spPr>
        <p:txBody>
          <a:bodyPr wrap="square" lIns="0" tIns="312420" rIns="0" bIns="0" rtlCol="0" vert="horz">
            <a:spAutoFit/>
          </a:bodyPr>
          <a:lstStyle/>
          <a:p>
            <a:pPr marL="12700" marR="5080">
              <a:lnSpc>
                <a:spcPts val="11800"/>
              </a:lnSpc>
              <a:spcBef>
                <a:spcPts val="2460"/>
              </a:spcBef>
            </a:pPr>
            <a:r>
              <a:rPr dirty="0" sz="11800" spc="-75">
                <a:solidFill>
                  <a:srgbClr val="F7F7F7"/>
                </a:solidFill>
                <a:latin typeface="DM Sans"/>
                <a:cs typeface="DM Sans"/>
              </a:rPr>
              <a:t>End-</a:t>
            </a:r>
            <a:r>
              <a:rPr dirty="0" sz="11800" spc="-110">
                <a:solidFill>
                  <a:srgbClr val="F7F7F7"/>
                </a:solidFill>
                <a:latin typeface="DM Sans"/>
                <a:cs typeface="DM Sans"/>
              </a:rPr>
              <a:t>to-</a:t>
            </a:r>
            <a:r>
              <a:rPr dirty="0" sz="11800">
                <a:solidFill>
                  <a:srgbClr val="F7F7F7"/>
                </a:solidFill>
                <a:latin typeface="DM Sans"/>
                <a:cs typeface="DM Sans"/>
              </a:rPr>
              <a:t>End</a:t>
            </a:r>
            <a:r>
              <a:rPr dirty="0" sz="11800" spc="-190">
                <a:solidFill>
                  <a:srgbClr val="F7F7F7"/>
                </a:solidFill>
                <a:latin typeface="DM Sans"/>
                <a:cs typeface="DM Sans"/>
              </a:rPr>
              <a:t> </a:t>
            </a:r>
            <a:r>
              <a:rPr dirty="0" sz="11800" spc="-10">
                <a:solidFill>
                  <a:srgbClr val="F7F7F7"/>
                </a:solidFill>
                <a:latin typeface="DM Sans"/>
                <a:cs typeface="DM Sans"/>
              </a:rPr>
              <a:t>Motor </a:t>
            </a:r>
            <a:r>
              <a:rPr dirty="0" sz="11800">
                <a:solidFill>
                  <a:srgbClr val="F7F7F7"/>
                </a:solidFill>
                <a:latin typeface="DM Sans"/>
                <a:cs typeface="DM Sans"/>
              </a:rPr>
              <a:t>Imagery</a:t>
            </a:r>
            <a:r>
              <a:rPr dirty="0" sz="11800" spc="-505">
                <a:solidFill>
                  <a:srgbClr val="F7F7F7"/>
                </a:solidFill>
                <a:latin typeface="DM Sans"/>
                <a:cs typeface="DM Sans"/>
              </a:rPr>
              <a:t> </a:t>
            </a:r>
            <a:r>
              <a:rPr dirty="0" sz="11800" spc="-25">
                <a:solidFill>
                  <a:srgbClr val="F7F7F7"/>
                </a:solidFill>
                <a:latin typeface="DM Sans"/>
                <a:cs typeface="DM Sans"/>
              </a:rPr>
              <a:t>BCI</a:t>
            </a:r>
            <a:endParaRPr sz="11800">
              <a:latin typeface="DM Sans"/>
              <a:cs typeface="DM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5892" y="8004394"/>
            <a:ext cx="7977505" cy="471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900" spc="-10">
                <a:solidFill>
                  <a:srgbClr val="2DC295"/>
                </a:solidFill>
                <a:latin typeface="DM Sans Light"/>
                <a:cs typeface="DM Sans Light"/>
              </a:rPr>
              <a:t>Translating</a:t>
            </a:r>
            <a:r>
              <a:rPr dirty="0" sz="2900" spc="-8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dirty="0" sz="2900">
                <a:solidFill>
                  <a:srgbClr val="2DC295"/>
                </a:solidFill>
                <a:latin typeface="DM Sans Light"/>
                <a:cs typeface="DM Sans Light"/>
              </a:rPr>
              <a:t>Biological</a:t>
            </a:r>
            <a:r>
              <a:rPr dirty="0" sz="2900" spc="-8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dirty="0" sz="2900">
                <a:solidFill>
                  <a:srgbClr val="2DC295"/>
                </a:solidFill>
                <a:latin typeface="DM Sans Light"/>
                <a:cs typeface="DM Sans Light"/>
              </a:rPr>
              <a:t>Intent</a:t>
            </a:r>
            <a:r>
              <a:rPr dirty="0" sz="2900" spc="-75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dirty="0" sz="2900">
                <a:solidFill>
                  <a:srgbClr val="2DC295"/>
                </a:solidFill>
                <a:latin typeface="DM Sans Light"/>
                <a:cs typeface="DM Sans Light"/>
              </a:rPr>
              <a:t>into</a:t>
            </a:r>
            <a:r>
              <a:rPr dirty="0" sz="2900" spc="-80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dirty="0" sz="2900">
                <a:solidFill>
                  <a:srgbClr val="2DC295"/>
                </a:solidFill>
                <a:latin typeface="DM Sans Light"/>
                <a:cs typeface="DM Sans Light"/>
              </a:rPr>
              <a:t>Robotic</a:t>
            </a:r>
            <a:r>
              <a:rPr dirty="0" sz="2900" spc="-75">
                <a:solidFill>
                  <a:srgbClr val="2DC295"/>
                </a:solidFill>
                <a:latin typeface="DM Sans Light"/>
                <a:cs typeface="DM Sans Light"/>
              </a:rPr>
              <a:t> </a:t>
            </a:r>
            <a:r>
              <a:rPr dirty="0" sz="2900" spc="-10">
                <a:solidFill>
                  <a:srgbClr val="2DC295"/>
                </a:solidFill>
                <a:latin typeface="DM Sans Light"/>
                <a:cs typeface="DM Sans Light"/>
              </a:rPr>
              <a:t>Action</a:t>
            </a:r>
            <a:endParaRPr sz="2900">
              <a:latin typeface="DM Sans Light"/>
              <a:cs typeface="DM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92110" y="6135499"/>
            <a:ext cx="512318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04191A"/>
                </a:solidFill>
                <a:latin typeface="DM Sans 18pt"/>
                <a:cs typeface="DM Sans 18pt"/>
              </a:rPr>
              <a:t>1.</a:t>
            </a:r>
            <a:r>
              <a:rPr dirty="0" sz="2900" spc="570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 18pt"/>
                <a:cs typeface="DM Sans 18pt"/>
              </a:rPr>
              <a:t>Introduction</a:t>
            </a:r>
            <a:r>
              <a:rPr dirty="0" sz="2900" spc="-60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 18pt"/>
                <a:cs typeface="DM Sans 18pt"/>
              </a:rPr>
              <a:t>and</a:t>
            </a:r>
            <a:r>
              <a:rPr dirty="0" sz="2900" spc="-55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 18pt"/>
                <a:cs typeface="DM Sans 18pt"/>
              </a:rPr>
              <a:t>Motivation</a:t>
            </a:r>
            <a:endParaRPr sz="2900">
              <a:latin typeface="DM Sans 18pt"/>
              <a:cs typeface="DM Sans 18p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2356" y="6577459"/>
            <a:ext cx="6637655" cy="2113915"/>
          </a:xfrm>
          <a:prstGeom prst="rect">
            <a:avLst/>
          </a:prstGeom>
        </p:spPr>
        <p:txBody>
          <a:bodyPr wrap="square" lIns="0" tIns="266700" rIns="0" bIns="0" rtlCol="0" vert="horz">
            <a:spAutoFit/>
          </a:bodyPr>
          <a:lstStyle/>
          <a:p>
            <a:pPr marL="492125" indent="-468630">
              <a:lnSpc>
                <a:spcPct val="100000"/>
              </a:lnSpc>
              <a:spcBef>
                <a:spcPts val="2100"/>
              </a:spcBef>
              <a:buFont typeface="DM Sans 18pt"/>
              <a:buAutoNum type="arabicPeriod" startAt="2"/>
              <a:tabLst>
                <a:tab pos="492125" algn="l"/>
              </a:tabLst>
            </a:pPr>
            <a:r>
              <a:rPr dirty="0" sz="2900">
                <a:solidFill>
                  <a:srgbClr val="04191A"/>
                </a:solidFill>
                <a:latin typeface="DM Sans 18pt"/>
                <a:cs typeface="DM Sans 18pt"/>
              </a:rPr>
              <a:t>Neuroscience</a:t>
            </a:r>
            <a:r>
              <a:rPr dirty="0" sz="2900" spc="-40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 18pt"/>
                <a:cs typeface="DM Sans 18pt"/>
              </a:rPr>
              <a:t>and</a:t>
            </a:r>
            <a:r>
              <a:rPr dirty="0" sz="2900" spc="-35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 18pt"/>
                <a:cs typeface="DM Sans 18pt"/>
              </a:rPr>
              <a:t>Signal</a:t>
            </a:r>
            <a:r>
              <a:rPr dirty="0" sz="2900" spc="-40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 18pt"/>
                <a:cs typeface="DM Sans 18pt"/>
              </a:rPr>
              <a:t>Processing</a:t>
            </a:r>
            <a:endParaRPr sz="2900">
              <a:latin typeface="DM Sans 18pt"/>
              <a:cs typeface="DM Sans 18pt"/>
            </a:endParaRPr>
          </a:p>
          <a:p>
            <a:pPr marL="492759" indent="-474345">
              <a:lnSpc>
                <a:spcPct val="100000"/>
              </a:lnSpc>
              <a:spcBef>
                <a:spcPts val="2000"/>
              </a:spcBef>
              <a:buFont typeface="DM Sans 18pt"/>
              <a:buAutoNum type="arabicPeriod" startAt="2"/>
              <a:tabLst>
                <a:tab pos="492759" algn="l"/>
              </a:tabLst>
            </a:pPr>
            <a:r>
              <a:rPr dirty="0" sz="2900" spc="-55">
                <a:solidFill>
                  <a:srgbClr val="04191A"/>
                </a:solidFill>
                <a:latin typeface="DM Sans 18pt"/>
                <a:cs typeface="DM Sans 18pt"/>
              </a:rPr>
              <a:t>Classification</a:t>
            </a:r>
            <a:r>
              <a:rPr dirty="0" sz="2900" spc="-105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 18pt"/>
                <a:cs typeface="DM Sans 18pt"/>
              </a:rPr>
              <a:t>and</a:t>
            </a:r>
            <a:r>
              <a:rPr dirty="0" sz="2900" spc="-100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 18pt"/>
                <a:cs typeface="DM Sans 18pt"/>
              </a:rPr>
              <a:t>Robot</a:t>
            </a:r>
            <a:r>
              <a:rPr dirty="0" sz="2900" spc="-100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 18pt"/>
                <a:cs typeface="DM Sans 18pt"/>
              </a:rPr>
              <a:t>Control</a:t>
            </a:r>
            <a:endParaRPr sz="2900">
              <a:latin typeface="DM Sans 18pt"/>
              <a:cs typeface="DM Sans 18pt"/>
            </a:endParaRPr>
          </a:p>
          <a:p>
            <a:pPr marL="492759" indent="-480059">
              <a:lnSpc>
                <a:spcPct val="100000"/>
              </a:lnSpc>
              <a:spcBef>
                <a:spcPts val="2000"/>
              </a:spcBef>
              <a:buFont typeface="DM Sans 18pt"/>
              <a:buAutoNum type="arabicPeriod" startAt="2"/>
              <a:tabLst>
                <a:tab pos="492759" algn="l"/>
              </a:tabLst>
            </a:pPr>
            <a:r>
              <a:rPr dirty="0" sz="2900" spc="-25">
                <a:solidFill>
                  <a:srgbClr val="04191A"/>
                </a:solidFill>
                <a:latin typeface="DM Sans 18pt"/>
                <a:cs typeface="DM Sans 18pt"/>
              </a:rPr>
              <a:t>Testing,</a:t>
            </a:r>
            <a:r>
              <a:rPr dirty="0" sz="2900" spc="-80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 18pt"/>
                <a:cs typeface="DM Sans 18pt"/>
              </a:rPr>
              <a:t>Data,</a:t>
            </a:r>
            <a:r>
              <a:rPr dirty="0" sz="2900" spc="-75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 18pt"/>
                <a:cs typeface="DM Sans 18pt"/>
              </a:rPr>
              <a:t>and</a:t>
            </a:r>
            <a:r>
              <a:rPr dirty="0" sz="2900" spc="-75">
                <a:solidFill>
                  <a:srgbClr val="04191A"/>
                </a:solidFill>
                <a:latin typeface="DM Sans 18pt"/>
                <a:cs typeface="DM Sans 18pt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 18pt"/>
                <a:cs typeface="DM Sans 18pt"/>
              </a:rPr>
              <a:t>Results</a:t>
            </a:r>
            <a:endParaRPr sz="2900">
              <a:latin typeface="DM Sans 18pt"/>
              <a:cs typeface="DM Sans 18p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71592" y="562607"/>
            <a:ext cx="3092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4191A"/>
                </a:solidFill>
                <a:latin typeface="DM Sans"/>
                <a:cs typeface="DM Sans"/>
              </a:rPr>
              <a:t>02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894" y="7671301"/>
            <a:ext cx="3493770" cy="1137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300" spc="-25" b="1">
                <a:solidFill>
                  <a:srgbClr val="04191A"/>
                </a:solidFill>
                <a:latin typeface="DM Sans 18pt"/>
                <a:cs typeface="DM Sans 18pt"/>
              </a:rPr>
              <a:t>Agenda</a:t>
            </a:r>
            <a:endParaRPr sz="7300">
              <a:latin typeface="DM Sans 18pt"/>
              <a:cs typeface="DM Sans 18p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5894" y="7671301"/>
            <a:ext cx="12692380" cy="1137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300" b="1">
                <a:latin typeface="DM Sans 18pt"/>
                <a:cs typeface="DM Sans 18pt"/>
              </a:rPr>
              <a:t>Introduction</a:t>
            </a:r>
            <a:r>
              <a:rPr dirty="0" sz="7300" spc="-215" b="1">
                <a:latin typeface="DM Sans 18pt"/>
                <a:cs typeface="DM Sans 18pt"/>
              </a:rPr>
              <a:t> </a:t>
            </a:r>
            <a:r>
              <a:rPr dirty="0" sz="7300" b="1">
                <a:latin typeface="DM Sans 18pt"/>
                <a:cs typeface="DM Sans 18pt"/>
              </a:rPr>
              <a:t>and</a:t>
            </a:r>
            <a:r>
              <a:rPr dirty="0" sz="7300" spc="-210" b="1">
                <a:latin typeface="DM Sans 18pt"/>
                <a:cs typeface="DM Sans 18pt"/>
              </a:rPr>
              <a:t> </a:t>
            </a:r>
            <a:r>
              <a:rPr dirty="0" sz="7300" spc="-10" b="1">
                <a:latin typeface="DM Sans 18pt"/>
                <a:cs typeface="DM Sans 18pt"/>
              </a:rPr>
              <a:t>Motivation</a:t>
            </a:r>
            <a:endParaRPr sz="7300">
              <a:latin typeface="DM Sans 18pt"/>
              <a:cs typeface="DM Sans 18p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64111" y="563767"/>
            <a:ext cx="3168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4191A"/>
                </a:solidFill>
                <a:latin typeface="DM Sans"/>
                <a:cs typeface="DM Sans"/>
              </a:rPr>
              <a:t>03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676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Thought</a:t>
            </a:r>
            <a:r>
              <a:rPr dirty="0" spc="-114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dirty="0" spc="-1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pc="-10">
                <a:solidFill>
                  <a:srgbClr val="FFFFFF"/>
                </a:solidFill>
                <a:latin typeface="DM Sans"/>
                <a:cs typeface="DM Sans"/>
              </a:rPr>
              <a:t>Robot</a:t>
            </a:r>
            <a:r>
              <a:rPr dirty="0" spc="-1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pc="-10">
                <a:solidFill>
                  <a:srgbClr val="FFFFFF"/>
                </a:solidFill>
                <a:latin typeface="DM Sans"/>
                <a:cs typeface="DM Sans"/>
              </a:rPr>
              <a:t>Motion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374" y="3433161"/>
            <a:ext cx="7747000" cy="425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What</a:t>
            </a:r>
            <a:r>
              <a:rPr dirty="0" sz="2900" spc="-7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2900" spc="-7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30">
                <a:solidFill>
                  <a:srgbClr val="FFFFFF"/>
                </a:solidFill>
                <a:latin typeface="DM Sans"/>
                <a:cs typeface="DM Sans"/>
              </a:rPr>
              <a:t>system</a:t>
            </a:r>
            <a:r>
              <a:rPr dirty="0" sz="2900" spc="-7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DM Sans"/>
                <a:cs typeface="DM Sans"/>
              </a:rPr>
              <a:t>does</a:t>
            </a:r>
            <a:endParaRPr sz="2900">
              <a:latin typeface="DM Sans"/>
              <a:cs typeface="DM Sans"/>
            </a:endParaRPr>
          </a:p>
          <a:p>
            <a:pPr marL="12700" marR="408305">
              <a:lnSpc>
                <a:spcPct val="101499"/>
              </a:lnSpc>
              <a:spcBef>
                <a:spcPts val="1810"/>
              </a:spcBef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turns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imagined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movement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into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motion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commands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for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DM Sans"/>
                <a:cs typeface="DM Sans"/>
              </a:rPr>
              <a:t>UR5e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cobot.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End-</a:t>
            </a:r>
            <a:r>
              <a:rPr dirty="0" sz="2900" spc="-35">
                <a:solidFill>
                  <a:srgbClr val="FFFFFF"/>
                </a:solidFill>
                <a:latin typeface="DM Sans"/>
                <a:cs typeface="DM Sans"/>
              </a:rPr>
              <a:t>to-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end</a:t>
            </a:r>
            <a:r>
              <a:rPr dirty="0" sz="2900" spc="-25">
                <a:solidFill>
                  <a:srgbClr val="FFFFFF"/>
                </a:solidFill>
                <a:latin typeface="DM Sans"/>
                <a:cs typeface="DM Sans"/>
              </a:rPr>
              <a:t> ﬂow</a:t>
            </a:r>
            <a:endParaRPr sz="2900">
              <a:latin typeface="DM Sans"/>
              <a:cs typeface="DM Sans"/>
            </a:endParaRPr>
          </a:p>
          <a:p>
            <a:pPr marL="12700" marR="312420">
              <a:lnSpc>
                <a:spcPct val="101499"/>
              </a:lnSpc>
              <a:spcBef>
                <a:spcPts val="1810"/>
              </a:spcBef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Brain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signals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are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processed,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classified,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converted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into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robot actions.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Where</a:t>
            </a:r>
            <a:r>
              <a:rPr dirty="0" sz="2900" spc="-6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dirty="0" sz="2900" spc="-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runs</a:t>
            </a:r>
            <a:r>
              <a:rPr dirty="0" sz="2900" spc="-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today</a:t>
            </a:r>
            <a:endParaRPr sz="290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ROS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Gazebo,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robot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responds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intent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inside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simulation.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60490" y="561158"/>
            <a:ext cx="320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DM Sans"/>
                <a:cs typeface="DM Sans"/>
              </a:rPr>
              <a:t>04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 h="0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5904" y="561158"/>
            <a:ext cx="3575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INTRODUCTION</a:t>
            </a:r>
            <a:r>
              <a:rPr dirty="0" sz="1800" spc="-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DM Sans"/>
                <a:cs typeface="DM Sans"/>
              </a:rPr>
              <a:t>MOTIVATION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" y="0"/>
            <a:ext cx="18288000" cy="10287000"/>
            <a:chOff x="32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" y="0"/>
              <a:ext cx="18287967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0735" y="6304775"/>
              <a:ext cx="3530638" cy="18313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0735" y="4005757"/>
              <a:ext cx="3530638" cy="18313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50735" y="1706752"/>
              <a:ext cx="3530638" cy="18313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50735" y="6112938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 h="0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050735" y="3813925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 h="0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041657" y="3937812"/>
            <a:ext cx="6123940" cy="4267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A</a:t>
            </a:r>
            <a:r>
              <a:rPr dirty="0" sz="2900" spc="-6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clear</a:t>
            </a:r>
            <a:r>
              <a:rPr dirty="0" sz="2900" spc="-6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25">
                <a:solidFill>
                  <a:srgbClr val="04191A"/>
                </a:solidFill>
                <a:latin typeface="DM Sans"/>
                <a:cs typeface="DM Sans"/>
              </a:rPr>
              <a:t>4-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step</a:t>
            </a:r>
            <a:r>
              <a:rPr dirty="0" sz="2900" spc="-6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pipeline</a:t>
            </a:r>
            <a:endParaRPr sz="2900">
              <a:latin typeface="DM Sans"/>
              <a:cs typeface="DM Sans"/>
            </a:endParaRPr>
          </a:p>
          <a:p>
            <a:pPr marL="224790" marR="27432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Signals are captured,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key patterns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are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extracted,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then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classified.</a:t>
            </a:r>
            <a:endParaRPr sz="1950">
              <a:latin typeface="DM Sans"/>
              <a:cs typeface="DM Sans"/>
            </a:endParaRPr>
          </a:p>
          <a:p>
            <a:pPr marL="224790" marR="23812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final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output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is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safe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actuation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command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25">
                <a:solidFill>
                  <a:srgbClr val="04191A"/>
                </a:solidFill>
                <a:latin typeface="DM Sans"/>
                <a:cs typeface="DM Sans"/>
              </a:rPr>
              <a:t>for </a:t>
            </a:r>
            <a:r>
              <a:rPr dirty="0" sz="1950" spc="-25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robot.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Clr>
                <a:srgbClr val="04191A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Why</a:t>
            </a:r>
            <a:r>
              <a:rPr dirty="0" sz="2900" spc="-1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it</a:t>
            </a:r>
            <a:r>
              <a:rPr dirty="0" sz="2900" spc="-8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matters</a:t>
            </a:r>
            <a:r>
              <a:rPr dirty="0" sz="2900" spc="-9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to</a:t>
            </a:r>
            <a:r>
              <a:rPr dirty="0" sz="2900" spc="-8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everyone</a:t>
            </a:r>
            <a:endParaRPr sz="2900">
              <a:latin typeface="DM Sans"/>
              <a:cs typeface="DM Sans"/>
            </a:endParaRPr>
          </a:p>
          <a:p>
            <a:pPr marL="224790" marR="2159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It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demonstrates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how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BCIs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can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guide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real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machines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in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practice.</a:t>
            </a:r>
            <a:endParaRPr sz="195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It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frames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future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of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accessible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interaction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beyond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mouse</a:t>
            </a:r>
            <a:r>
              <a:rPr dirty="0" sz="1950" spc="5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5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touch.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41657" y="1638797"/>
            <a:ext cx="6154420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Hands-free,</a:t>
            </a:r>
            <a:r>
              <a:rPr dirty="0" sz="2900" spc="-9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30">
                <a:solidFill>
                  <a:srgbClr val="04191A"/>
                </a:solidFill>
                <a:latin typeface="DM Sans"/>
                <a:cs typeface="DM Sans"/>
              </a:rPr>
              <a:t>intent-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driven</a:t>
            </a:r>
            <a:r>
              <a:rPr dirty="0" sz="2900" spc="-9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control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It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turns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imagined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movement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into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robot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commands,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without</a:t>
            </a:r>
            <a:r>
              <a:rPr dirty="0" sz="1950" spc="7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controllers.</a:t>
            </a:r>
            <a:endParaRPr sz="1950">
              <a:latin typeface="DM Sans"/>
              <a:cs typeface="DM Sans"/>
            </a:endParaRPr>
          </a:p>
          <a:p>
            <a:pPr marL="224790" marR="25146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This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shows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how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brain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signals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can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become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direct,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usable</a:t>
            </a:r>
            <a:r>
              <a:rPr dirty="0" sz="1950" spc="6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actions.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59575" y="562607"/>
            <a:ext cx="321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4191A"/>
                </a:solidFill>
                <a:latin typeface="DM Sans"/>
                <a:cs typeface="DM Sans"/>
              </a:rPr>
              <a:t>05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5785" y="562607"/>
            <a:ext cx="3575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4191A"/>
                </a:solidFill>
                <a:latin typeface="DM Sans"/>
                <a:cs typeface="DM Sans"/>
              </a:rPr>
              <a:t>INTRODUCTION</a:t>
            </a:r>
            <a:r>
              <a:rPr dirty="0" sz="1800" spc="-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800" spc="-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 spc="-30">
                <a:solidFill>
                  <a:srgbClr val="04191A"/>
                </a:solidFill>
                <a:latin typeface="DM Sans"/>
                <a:cs typeface="DM Sans"/>
              </a:rPr>
              <a:t>MOTIVATION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905866" y="1606411"/>
            <a:ext cx="401256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DM Sans"/>
                <a:cs typeface="DM Sans"/>
              </a:rPr>
              <a:t>Why</a:t>
            </a:r>
            <a:r>
              <a:rPr dirty="0" spc="-85">
                <a:latin typeface="DM Sans"/>
                <a:cs typeface="DM Sans"/>
              </a:rPr>
              <a:t> </a:t>
            </a:r>
            <a:r>
              <a:rPr dirty="0">
                <a:latin typeface="DM Sans"/>
                <a:cs typeface="DM Sans"/>
              </a:rPr>
              <a:t>It</a:t>
            </a:r>
            <a:r>
              <a:rPr dirty="0" spc="-85">
                <a:latin typeface="DM Sans"/>
                <a:cs typeface="DM Sans"/>
              </a:rPr>
              <a:t> </a:t>
            </a:r>
            <a:r>
              <a:rPr dirty="0" spc="-10">
                <a:latin typeface="DM Sans"/>
                <a:cs typeface="DM Sans"/>
              </a:rPr>
              <a:t>Matters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5904" y="6742051"/>
            <a:ext cx="11196320" cy="2065020"/>
          </a:xfrm>
          <a:prstGeom prst="rect"/>
        </p:spPr>
        <p:txBody>
          <a:bodyPr wrap="square" lIns="0" tIns="198120" rIns="0" bIns="0" rtlCol="0" vert="horz">
            <a:spAutoFit/>
          </a:bodyPr>
          <a:lstStyle/>
          <a:p>
            <a:pPr marL="12700" marR="5080">
              <a:lnSpc>
                <a:spcPts val="7300"/>
              </a:lnSpc>
              <a:spcBef>
                <a:spcPts val="1560"/>
              </a:spcBef>
            </a:pPr>
            <a:r>
              <a:rPr dirty="0" sz="7300" spc="-20" b="1">
                <a:solidFill>
                  <a:srgbClr val="FFFFFF"/>
                </a:solidFill>
                <a:latin typeface="DM Sans 18pt"/>
                <a:cs typeface="DM Sans 18pt"/>
              </a:rPr>
              <a:t>Neuroscience</a:t>
            </a:r>
            <a:r>
              <a:rPr dirty="0" sz="7300" spc="-229" b="1">
                <a:solidFill>
                  <a:srgbClr val="FFFFFF"/>
                </a:solidFill>
                <a:latin typeface="DM Sans 18pt"/>
                <a:cs typeface="DM Sans 18pt"/>
              </a:rPr>
              <a:t> </a:t>
            </a:r>
            <a:r>
              <a:rPr dirty="0" sz="7300" b="1">
                <a:solidFill>
                  <a:srgbClr val="FFFFFF"/>
                </a:solidFill>
                <a:latin typeface="DM Sans 18pt"/>
                <a:cs typeface="DM Sans 18pt"/>
              </a:rPr>
              <a:t>and</a:t>
            </a:r>
            <a:r>
              <a:rPr dirty="0" sz="7300" spc="-225" b="1">
                <a:solidFill>
                  <a:srgbClr val="FFFFFF"/>
                </a:solidFill>
                <a:latin typeface="DM Sans 18pt"/>
                <a:cs typeface="DM Sans 18pt"/>
              </a:rPr>
              <a:t> </a:t>
            </a:r>
            <a:r>
              <a:rPr dirty="0" sz="7300" spc="-10" b="1">
                <a:solidFill>
                  <a:srgbClr val="FFFFFF"/>
                </a:solidFill>
                <a:latin typeface="DM Sans 18pt"/>
                <a:cs typeface="DM Sans 18pt"/>
              </a:rPr>
              <a:t>Signal Processing</a:t>
            </a:r>
            <a:endParaRPr sz="7300">
              <a:latin typeface="DM Sans 18pt"/>
              <a:cs typeface="DM Sans 18p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55424" y="562607"/>
            <a:ext cx="3257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DM Sans"/>
                <a:cs typeface="DM Sans"/>
              </a:rPr>
              <a:t>06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676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Motor</a:t>
            </a:r>
            <a:r>
              <a:rPr dirty="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Intent</a:t>
            </a:r>
            <a:r>
              <a:rPr dirty="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in</a:t>
            </a:r>
            <a:r>
              <a:rPr dirty="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pc="-25">
                <a:solidFill>
                  <a:srgbClr val="FFFFFF"/>
                </a:solidFill>
                <a:latin typeface="DM Sans"/>
                <a:cs typeface="DM Sans"/>
              </a:rPr>
              <a:t>M1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374" y="3433161"/>
            <a:ext cx="7799705" cy="5656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Origin</a:t>
            </a:r>
            <a:r>
              <a:rPr dirty="0" sz="2900" spc="-10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of</a:t>
            </a:r>
            <a:r>
              <a:rPr dirty="0" sz="2900" spc="-10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motor</a:t>
            </a:r>
            <a:r>
              <a:rPr dirty="0" sz="2900" spc="-9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intent</a:t>
            </a:r>
            <a:endParaRPr sz="2900">
              <a:latin typeface="DM Sans"/>
              <a:cs typeface="DM Sans"/>
            </a:endParaRPr>
          </a:p>
          <a:p>
            <a:pPr marL="224790" marR="9207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Movement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planning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begins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primary</a:t>
            </a:r>
            <a:r>
              <a:rPr dirty="0" sz="1950" spc="25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motor</a:t>
            </a:r>
            <a:r>
              <a:rPr dirty="0" sz="1950" spc="25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cortex</a:t>
            </a:r>
            <a:r>
              <a:rPr dirty="0" sz="1950" spc="90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(frontal 	lobe).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Different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regions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correspond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different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parts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of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body.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Neurons</a:t>
            </a:r>
            <a:r>
              <a:rPr dirty="0" sz="2900" spc="-8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that</a:t>
            </a:r>
            <a:r>
              <a:rPr dirty="0" sz="2900" spc="-8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scale</a:t>
            </a:r>
            <a:r>
              <a:rPr dirty="0" sz="2900" spc="-8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25">
                <a:solidFill>
                  <a:srgbClr val="FFFFFF"/>
                </a:solidFill>
                <a:latin typeface="DM Sans"/>
                <a:cs typeface="DM Sans"/>
              </a:rPr>
              <a:t>up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Pyramidal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neurons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align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similarly,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like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tiny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vertical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dipoles.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When</a:t>
            </a:r>
            <a:r>
              <a:rPr dirty="0" sz="1950" spc="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many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fire</a:t>
            </a:r>
            <a:r>
              <a:rPr dirty="0" sz="1950" spc="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together,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their</a:t>
            </a:r>
            <a:r>
              <a:rPr dirty="0" sz="1950" spc="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voltages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add</a:t>
            </a:r>
            <a:r>
              <a:rPr dirty="0" sz="1950" spc="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into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larger</a:t>
            </a:r>
            <a:r>
              <a:rPr dirty="0" sz="1950" spc="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signal.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What</a:t>
            </a:r>
            <a:r>
              <a:rPr dirty="0" sz="2900" spc="-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EEG</a:t>
            </a:r>
            <a:r>
              <a:rPr dirty="0" sz="2900" spc="-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can</a:t>
            </a:r>
            <a:r>
              <a:rPr dirty="0" sz="2900" spc="-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capture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EEG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senses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summed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activity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across</a:t>
            </a:r>
            <a:r>
              <a:rPr dirty="0" sz="1950" spc="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thousands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of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neurons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at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once.</a:t>
            </a:r>
            <a:endParaRPr sz="1950">
              <a:latin typeface="DM Sans"/>
              <a:cs typeface="DM Sans"/>
            </a:endParaRPr>
          </a:p>
          <a:p>
            <a:pPr marL="224790" marR="39116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This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macroscopic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pattern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becomes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input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used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by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our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BCI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pipeline.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80377" y="561158"/>
            <a:ext cx="29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DM Sans"/>
                <a:cs typeface="DM Sans"/>
              </a:rPr>
              <a:t>07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 h="0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5904" y="561158"/>
            <a:ext cx="4533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NEUROSCIENCE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SIGNAL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PROCESSING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676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Resting</a:t>
            </a:r>
            <a:r>
              <a:rPr dirty="0" spc="-22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motor</a:t>
            </a:r>
            <a:r>
              <a:rPr dirty="0" spc="-229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pc="-10">
                <a:solidFill>
                  <a:srgbClr val="FFFFFF"/>
                </a:solidFill>
                <a:latin typeface="DM Sans"/>
                <a:cs typeface="DM Sans"/>
              </a:rPr>
              <a:t>rhythms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374" y="3433161"/>
            <a:ext cx="7663815" cy="5291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Sensorimotor</a:t>
            </a:r>
            <a:r>
              <a:rPr dirty="0" sz="2900" spc="-17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baseline</a:t>
            </a:r>
            <a:endParaRPr sz="2900">
              <a:latin typeface="DM Sans"/>
              <a:cs typeface="DM Sans"/>
            </a:endParaRPr>
          </a:p>
          <a:p>
            <a:pPr marL="224790" marR="56324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When you rest, motor areas produce steady,</a:t>
            </a:r>
            <a:r>
              <a:rPr dirty="0" sz="1950" spc="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repeating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EEG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rhythms.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This</a:t>
            </a:r>
            <a:r>
              <a:rPr dirty="0" sz="1950" spc="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“idling”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pattern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is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reference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state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for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later</a:t>
            </a:r>
            <a:r>
              <a:rPr dirty="0" sz="1950" spc="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comparisons.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 spc="-20">
                <a:solidFill>
                  <a:srgbClr val="FFFFFF"/>
                </a:solidFill>
                <a:latin typeface="DM Sans"/>
                <a:cs typeface="DM Sans"/>
              </a:rPr>
              <a:t>Two</a:t>
            </a:r>
            <a:r>
              <a:rPr dirty="0" sz="2900" spc="-1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DM Sans"/>
                <a:cs typeface="DM Sans"/>
              </a:rPr>
              <a:t>key</a:t>
            </a:r>
            <a:r>
              <a:rPr dirty="0" sz="2900" spc="-1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rhythm</a:t>
            </a:r>
            <a:r>
              <a:rPr dirty="0" sz="2900" spc="-1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DM Sans"/>
                <a:cs typeface="DM Sans"/>
              </a:rPr>
              <a:t>bands</a:t>
            </a:r>
            <a:endParaRPr sz="2900">
              <a:latin typeface="DM Sans"/>
              <a:cs typeface="DM Sans"/>
            </a:endParaRPr>
          </a:p>
          <a:p>
            <a:pPr marL="224790" marR="59753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Mu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rhythm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sits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around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8–13</a:t>
            </a:r>
            <a:r>
              <a:rPr dirty="0" sz="1950" spc="40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Hz</a:t>
            </a:r>
            <a:r>
              <a:rPr dirty="0" sz="1950" spc="105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reﬂects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motor-system 	standby.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Beta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rhythm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spans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13–30</a:t>
            </a:r>
            <a:r>
              <a:rPr dirty="0" sz="1950" spc="35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Hz</a:t>
            </a:r>
            <a:r>
              <a:rPr dirty="0" sz="1950" spc="95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is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also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strong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during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rest.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Why</a:t>
            </a:r>
            <a:r>
              <a:rPr dirty="0" sz="290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dirty="0" sz="2900" spc="-6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matters</a:t>
            </a:r>
            <a:endParaRPr sz="2900">
              <a:latin typeface="DM Sans"/>
              <a:cs typeface="DM Sans"/>
            </a:endParaRPr>
          </a:p>
          <a:p>
            <a:pPr marL="224790" marR="36449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Imagined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movement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is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detected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as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drop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from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this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baseline 	power.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60033" y="561158"/>
            <a:ext cx="3213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DM Sans"/>
                <a:cs typeface="DM Sans"/>
              </a:rPr>
              <a:t>08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 h="0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5904" y="561158"/>
            <a:ext cx="4533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NEUROSCIENCE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SIGNAL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PROCESSING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676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Contralateral</a:t>
            </a:r>
            <a:r>
              <a:rPr dirty="0" spc="-1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ERD</a:t>
            </a:r>
            <a:r>
              <a:rPr dirty="0" spc="-10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pc="-10">
                <a:solidFill>
                  <a:srgbClr val="FFFFFF"/>
                </a:solidFill>
                <a:latin typeface="DM Sans"/>
                <a:cs typeface="DM Sans"/>
              </a:rPr>
              <a:t>Signal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374" y="3433161"/>
            <a:ext cx="7797165" cy="6190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Contralateral</a:t>
            </a:r>
            <a:r>
              <a:rPr dirty="0" sz="2900" spc="-8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brain</a:t>
            </a:r>
            <a:r>
              <a:rPr dirty="0" sz="290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control</a:t>
            </a:r>
            <a:endParaRPr sz="2900">
              <a:latin typeface="DM Sans"/>
              <a:cs typeface="DM Sans"/>
            </a:endParaRPr>
          </a:p>
          <a:p>
            <a:pPr marL="224790" marR="13652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Left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hemisphere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activity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typically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relates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right-side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intention,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vice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versa.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Imagery</a:t>
            </a:r>
            <a:r>
              <a:rPr dirty="0" sz="2900" spc="-1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breaks</a:t>
            </a:r>
            <a:r>
              <a:rPr dirty="0" sz="2900" spc="-1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2900" spc="-10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resting</a:t>
            </a:r>
            <a:r>
              <a:rPr dirty="0" sz="2900" spc="-1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pattern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When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you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imagine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movement,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usual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steady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rhythm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becomes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less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synchronized.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A</a:t>
            </a:r>
            <a:r>
              <a:rPr dirty="0" sz="2900" spc="-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measurable</a:t>
            </a:r>
            <a:r>
              <a:rPr dirty="0" sz="2900" spc="-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power</a:t>
            </a:r>
            <a:r>
              <a:rPr dirty="0" sz="2900" spc="-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drop</a:t>
            </a:r>
            <a:r>
              <a:rPr dirty="0" sz="2900" spc="-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appears</a:t>
            </a:r>
            <a:endParaRPr sz="2900">
              <a:latin typeface="DM Sans"/>
              <a:cs typeface="DM Sans"/>
            </a:endParaRPr>
          </a:p>
          <a:p>
            <a:pPr marL="224790" marR="8382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Local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signal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energy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decreases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near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motor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areas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during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imagined 	action.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Key</a:t>
            </a:r>
            <a:r>
              <a:rPr dirty="0" sz="2900" spc="-8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clue</a:t>
            </a:r>
            <a:r>
              <a:rPr dirty="0" sz="290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2900" spc="-8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model</a:t>
            </a:r>
            <a:r>
              <a:rPr dirty="0" sz="290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learns</a:t>
            </a:r>
            <a:endParaRPr sz="2900">
              <a:latin typeface="DM Sans"/>
              <a:cs typeface="DM Sans"/>
            </a:endParaRPr>
          </a:p>
          <a:p>
            <a:pPr marL="224790" marR="422909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This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 b="1">
                <a:solidFill>
                  <a:srgbClr val="2DC295"/>
                </a:solidFill>
                <a:latin typeface="DM Sans"/>
                <a:cs typeface="DM Sans"/>
              </a:rPr>
              <a:t>event-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related</a:t>
            </a:r>
            <a:r>
              <a:rPr dirty="0" sz="1950" spc="35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desynchronization</a:t>
            </a:r>
            <a:r>
              <a:rPr dirty="0" sz="1950" spc="30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(ERD)</a:t>
            </a:r>
            <a:r>
              <a:rPr dirty="0" sz="1950" spc="95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helps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separate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intent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classes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reliably.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55461" y="561158"/>
            <a:ext cx="3257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DM Sans"/>
                <a:cs typeface="DM Sans"/>
              </a:rPr>
              <a:t>09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 h="0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5904" y="561158"/>
            <a:ext cx="4533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NEUROSCIENCE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SIGNAL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PROCESSING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676005">
              <a:lnSpc>
                <a:spcPct val="100000"/>
              </a:lnSpc>
              <a:spcBef>
                <a:spcPts val="100"/>
              </a:spcBef>
            </a:pPr>
            <a:r>
              <a:rPr dirty="0" spc="-20">
                <a:solidFill>
                  <a:srgbClr val="FFFFFF"/>
                </a:solidFill>
                <a:latin typeface="DM Sans"/>
                <a:cs typeface="DM Sans"/>
              </a:rPr>
              <a:t>Teaching</a:t>
            </a:r>
            <a:r>
              <a:rPr dirty="0" spc="-16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biology</a:t>
            </a:r>
            <a:r>
              <a:rPr dirty="0" spc="-1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dirty="0" spc="-16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pc="-20">
                <a:solidFill>
                  <a:srgbClr val="FFFFFF"/>
                </a:solidFill>
                <a:latin typeface="DM Sans"/>
                <a:cs typeface="DM Sans"/>
              </a:rPr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374" y="3433161"/>
            <a:ext cx="7474584" cy="5958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From</a:t>
            </a:r>
            <a:r>
              <a:rPr dirty="0" sz="2900" spc="-7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signals</a:t>
            </a:r>
            <a:r>
              <a:rPr dirty="0" sz="2900" spc="-7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dirty="0" sz="2900" spc="-6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meaning</a:t>
            </a:r>
            <a:endParaRPr sz="2900">
              <a:latin typeface="DM Sans"/>
              <a:cs typeface="DM Sans"/>
            </a:endParaRPr>
          </a:p>
          <a:p>
            <a:pPr marL="224790" marR="79121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Software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receives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only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time-series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voltages,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not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human 	intention.</a:t>
            </a:r>
            <a:endParaRPr sz="1950">
              <a:latin typeface="DM Sans"/>
              <a:cs typeface="DM Sans"/>
            </a:endParaRPr>
          </a:p>
          <a:p>
            <a:pPr marL="224790" marR="94805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Learning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is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needed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connect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patterns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with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imagined 	movement.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Supervised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learning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setup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We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label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examples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by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motor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imagery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class,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then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train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model.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Training</a:t>
            </a:r>
            <a:r>
              <a:rPr dirty="0" sz="1950" spc="-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teaches the system what ERD-like changes look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like.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Working</a:t>
            </a:r>
            <a:r>
              <a:rPr dirty="0" sz="2900" spc="-8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in</a:t>
            </a:r>
            <a:r>
              <a:rPr dirty="0" sz="2900" spc="-8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35">
                <a:solidFill>
                  <a:srgbClr val="FFFFFF"/>
                </a:solidFill>
                <a:latin typeface="DM Sans"/>
                <a:cs typeface="DM Sans"/>
              </a:rPr>
              <a:t>real-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world</a:t>
            </a:r>
            <a:r>
              <a:rPr dirty="0" sz="290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noise</a:t>
            </a:r>
            <a:endParaRPr sz="2900">
              <a:latin typeface="DM Sans"/>
              <a:cs typeface="DM Sans"/>
            </a:endParaRPr>
          </a:p>
          <a:p>
            <a:pPr marL="224790" marR="18669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model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must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recognize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intent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even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when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signals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drift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vary.</a:t>
            </a:r>
            <a:endParaRPr sz="1950">
              <a:latin typeface="DM Sans"/>
              <a:cs typeface="DM Sans"/>
            </a:endParaRPr>
          </a:p>
          <a:p>
            <a:pPr marL="224790" marR="61214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Output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becomes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reliable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class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predictions</a:t>
            </a:r>
            <a:r>
              <a:rPr dirty="0" sz="1950" spc="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that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can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drive 	control.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27928" y="561158"/>
            <a:ext cx="253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DM Sans"/>
                <a:cs typeface="DM Sans"/>
              </a:rPr>
              <a:t>10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 h="0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5904" y="561158"/>
            <a:ext cx="4533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NEUROSCIENCE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SIGNAL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PROCESSING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69374" y="1606411"/>
            <a:ext cx="668020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CSP:</a:t>
            </a:r>
            <a:r>
              <a:rPr dirty="0" spc="-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Where</a:t>
            </a:r>
            <a:r>
              <a:rPr dirty="0" spc="-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activity</a:t>
            </a:r>
            <a:r>
              <a:rPr dirty="0" spc="-5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pc="-10">
                <a:solidFill>
                  <a:srgbClr val="FFFFFF"/>
                </a:solidFill>
                <a:latin typeface="DM Sans"/>
                <a:cs typeface="DM Sans"/>
              </a:rPr>
              <a:t>lives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374" y="3433161"/>
            <a:ext cx="7647940" cy="5894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What</a:t>
            </a:r>
            <a:r>
              <a:rPr dirty="0" sz="2900" spc="-6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CSP</a:t>
            </a:r>
            <a:r>
              <a:rPr dirty="0" sz="2900" spc="-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DM Sans"/>
                <a:cs typeface="DM Sans"/>
              </a:rPr>
              <a:t>does</a:t>
            </a:r>
            <a:endParaRPr sz="2900">
              <a:latin typeface="DM Sans"/>
              <a:cs typeface="DM Sans"/>
            </a:endParaRPr>
          </a:p>
          <a:p>
            <a:pPr marL="224790" marR="50927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learns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spatial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filters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by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comparing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patterns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across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all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EEG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channels.</a:t>
            </a:r>
            <a:endParaRPr sz="195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re-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weights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electrodes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so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informative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regions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contribute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DM Sans"/>
                <a:cs typeface="DM Sans"/>
              </a:rPr>
              <a:t>more </a:t>
            </a:r>
            <a:r>
              <a:rPr dirty="0" sz="1950" spc="-20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dirty="0" sz="1950" spc="-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features.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Why</a:t>
            </a:r>
            <a:r>
              <a:rPr dirty="0" sz="2900" spc="-9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dirty="0" sz="290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helps</a:t>
            </a:r>
            <a:r>
              <a:rPr dirty="0" sz="2900" spc="-8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motor</a:t>
            </a:r>
            <a:r>
              <a:rPr dirty="0" sz="290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imagery</a:t>
            </a:r>
            <a:endParaRPr sz="2900">
              <a:latin typeface="DM Sans"/>
              <a:cs typeface="DM Sans"/>
            </a:endParaRPr>
          </a:p>
          <a:p>
            <a:pPr marL="224790" marR="46609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dirty="0" sz="1950" spc="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amplifies</a:t>
            </a:r>
            <a:r>
              <a:rPr dirty="0" sz="1950" spc="6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left-versus-right</a:t>
            </a:r>
            <a:r>
              <a:rPr dirty="0" sz="1950" spc="6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hemisphere</a:t>
            </a:r>
            <a:r>
              <a:rPr dirty="0" sz="1950" spc="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differences</a:t>
            </a:r>
            <a:r>
              <a:rPr dirty="0" sz="1950" spc="6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tied</a:t>
            </a:r>
            <a:r>
              <a:rPr dirty="0" sz="1950" spc="6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to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imagined</a:t>
            </a:r>
            <a:r>
              <a:rPr dirty="0" sz="1950" spc="8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movement.</a:t>
            </a:r>
            <a:endParaRPr sz="1950">
              <a:latin typeface="DM Sans"/>
              <a:cs typeface="DM Sans"/>
            </a:endParaRPr>
          </a:p>
          <a:p>
            <a:pPr marL="224790" marR="883919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suppresses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shared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background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activity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that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can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DM Sans"/>
                <a:cs typeface="DM Sans"/>
              </a:rPr>
              <a:t>mask </a:t>
            </a:r>
            <a:r>
              <a:rPr dirty="0" sz="1950" spc="-20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class-specific</a:t>
            </a:r>
            <a:r>
              <a:rPr dirty="0" sz="1950" spc="1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signals.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Practical</a:t>
            </a:r>
            <a:r>
              <a:rPr dirty="0" sz="2900" spc="-16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takeaway</a:t>
            </a:r>
            <a:endParaRPr sz="2900">
              <a:latin typeface="DM Sans"/>
              <a:cs typeface="DM Sans"/>
            </a:endParaRPr>
          </a:p>
          <a:p>
            <a:pPr marL="224790" marR="85344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CSP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highlights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where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scalp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activity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is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most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useful</a:t>
            </a:r>
            <a:r>
              <a:rPr dirty="0" sz="1950" spc="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before 	classification.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12966" y="561158"/>
            <a:ext cx="168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DM Sans"/>
                <a:cs typeface="DM Sans"/>
              </a:rPr>
              <a:t>11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 h="0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5904" y="561158"/>
            <a:ext cx="4533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NEUROSCIENCE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SIGNAL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PROCESSING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676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Tracking</a:t>
            </a:r>
            <a:r>
              <a:rPr dirty="0" spc="-204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EEG</a:t>
            </a:r>
            <a:r>
              <a:rPr dirty="0" spc="-20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pc="-20">
                <a:solidFill>
                  <a:srgbClr val="FFFFFF"/>
                </a:solidFill>
                <a:latin typeface="DM Sans"/>
                <a:cs typeface="DM Sans"/>
              </a:rPr>
              <a:t>Power</a:t>
            </a:r>
            <a:r>
              <a:rPr dirty="0" spc="-20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pc="-10">
                <a:solidFill>
                  <a:srgbClr val="FFFFFF"/>
                </a:solidFill>
                <a:latin typeface="DM Sans"/>
                <a:cs typeface="DM Sans"/>
              </a:rPr>
              <a:t>Shifts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374" y="3433161"/>
            <a:ext cx="7265034" cy="5656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PSD</a:t>
            </a:r>
            <a:r>
              <a:rPr dirty="0" sz="2900" spc="-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turns</a:t>
            </a:r>
            <a:r>
              <a:rPr dirty="0" sz="2900" spc="-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EEG</a:t>
            </a:r>
            <a:r>
              <a:rPr dirty="0" sz="29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into</a:t>
            </a:r>
            <a:r>
              <a:rPr dirty="0" sz="2900" spc="-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a</a:t>
            </a:r>
            <a:r>
              <a:rPr dirty="0" sz="2900" spc="-4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frequency</a:t>
            </a:r>
            <a:r>
              <a:rPr dirty="0" sz="29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25">
                <a:solidFill>
                  <a:srgbClr val="FFFFFF"/>
                </a:solidFill>
                <a:latin typeface="DM Sans"/>
                <a:cs typeface="DM Sans"/>
              </a:rPr>
              <a:t>map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shows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how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much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signal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power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exists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at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each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frequency.</a:t>
            </a:r>
            <a:endParaRPr sz="1950">
              <a:latin typeface="DM Sans"/>
              <a:cs typeface="DM Sans"/>
            </a:endParaRPr>
          </a:p>
          <a:p>
            <a:pPr marL="224790" marR="25781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This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makes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subtle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rhythm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changes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easier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spot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than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raw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waves.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 spc="-20">
                <a:solidFill>
                  <a:srgbClr val="FFFFFF"/>
                </a:solidFill>
                <a:latin typeface="DM Sans"/>
                <a:cs typeface="DM Sans"/>
              </a:rPr>
              <a:t>Welch</a:t>
            </a:r>
            <a:r>
              <a:rPr dirty="0" sz="2900" spc="-8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+</a:t>
            </a:r>
            <a:r>
              <a:rPr dirty="0" sz="2900" spc="-8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FFT</a:t>
            </a:r>
            <a:r>
              <a:rPr dirty="0" sz="2900" spc="-8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focus</a:t>
            </a:r>
            <a:r>
              <a:rPr dirty="0" sz="290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on</a:t>
            </a:r>
            <a:r>
              <a:rPr dirty="0" sz="2900" spc="-8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DM Sans"/>
                <a:cs typeface="DM Sans"/>
              </a:rPr>
              <a:t>key</a:t>
            </a:r>
            <a:r>
              <a:rPr dirty="0" sz="2900" spc="-8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bands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Welch’s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method</a:t>
            </a:r>
            <a:r>
              <a:rPr dirty="0" sz="1950" spc="-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stabilizes</a:t>
            </a:r>
            <a:r>
              <a:rPr dirty="0" sz="1950" spc="-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estimates</a:t>
            </a:r>
            <a:r>
              <a:rPr dirty="0" sz="1950" spc="-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by</a:t>
            </a:r>
            <a:r>
              <a:rPr dirty="0" sz="1950" spc="-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averaging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short</a:t>
            </a:r>
            <a:r>
              <a:rPr dirty="0" sz="1950" spc="-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DM Sans"/>
                <a:cs typeface="DM Sans"/>
              </a:rPr>
              <a:t>time </a:t>
            </a:r>
            <a:r>
              <a:rPr dirty="0" sz="1950" spc="-20">
                <a:solidFill>
                  <a:srgbClr val="FFFFFF"/>
                </a:solidFill>
                <a:latin typeface="DM Sans"/>
                <a:cs typeface="DM Sans"/>
              </a:rPr>
              <a:t>	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windows.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FFT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reveals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spectrum,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highlighting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8–30</a:t>
            </a:r>
            <a:r>
              <a:rPr dirty="0" sz="1950" spc="35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Hz</a:t>
            </a:r>
            <a:r>
              <a:rPr dirty="0" sz="1950" spc="100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region.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What</a:t>
            </a:r>
            <a:r>
              <a:rPr dirty="0" sz="2900" spc="-9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we</a:t>
            </a:r>
            <a:r>
              <a:rPr dirty="0" sz="2900" spc="-9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expect</a:t>
            </a:r>
            <a:r>
              <a:rPr dirty="0" sz="2900" spc="-9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during</a:t>
            </a:r>
            <a:r>
              <a:rPr dirty="0" sz="2900" spc="-9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motor</a:t>
            </a:r>
            <a:r>
              <a:rPr dirty="0" sz="2900" spc="-9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imagery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drop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power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indicates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ERD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mu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beta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rhythms.</a:t>
            </a:r>
            <a:endParaRPr sz="1950">
              <a:latin typeface="DM Sans"/>
              <a:cs typeface="DM Sans"/>
            </a:endParaRPr>
          </a:p>
          <a:p>
            <a:pPr marL="224790" marR="76835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Those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frequency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features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feed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classifier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for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intent 	prediction.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52597" y="561158"/>
            <a:ext cx="22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DM Sans"/>
                <a:cs typeface="DM Sans"/>
              </a:rPr>
              <a:t>12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 h="0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5904" y="561158"/>
            <a:ext cx="4533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NEUROSCIENCE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SIGNAL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PROCESSING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5894" y="6744201"/>
            <a:ext cx="11016615" cy="2065020"/>
          </a:xfrm>
          <a:prstGeom prst="rect"/>
        </p:spPr>
        <p:txBody>
          <a:bodyPr wrap="square" lIns="0" tIns="198120" rIns="0" bIns="0" rtlCol="0" vert="horz">
            <a:spAutoFit/>
          </a:bodyPr>
          <a:lstStyle/>
          <a:p>
            <a:pPr marL="12700" marR="5080">
              <a:lnSpc>
                <a:spcPts val="7300"/>
              </a:lnSpc>
              <a:spcBef>
                <a:spcPts val="1560"/>
              </a:spcBef>
            </a:pPr>
            <a:r>
              <a:rPr dirty="0" sz="7300" spc="-145" b="1">
                <a:latin typeface="DM Sans 18pt"/>
                <a:cs typeface="DM Sans 18pt"/>
              </a:rPr>
              <a:t>Classification</a:t>
            </a:r>
            <a:r>
              <a:rPr dirty="0" sz="7300" spc="-175" b="1">
                <a:latin typeface="DM Sans 18pt"/>
                <a:cs typeface="DM Sans 18pt"/>
              </a:rPr>
              <a:t> </a:t>
            </a:r>
            <a:r>
              <a:rPr dirty="0" sz="7300" b="1">
                <a:latin typeface="DM Sans 18pt"/>
                <a:cs typeface="DM Sans 18pt"/>
              </a:rPr>
              <a:t>and</a:t>
            </a:r>
            <a:r>
              <a:rPr dirty="0" sz="7300" spc="-170" b="1">
                <a:latin typeface="DM Sans 18pt"/>
                <a:cs typeface="DM Sans 18pt"/>
              </a:rPr>
              <a:t> </a:t>
            </a:r>
            <a:r>
              <a:rPr dirty="0" sz="7300" spc="-20" b="1">
                <a:latin typeface="DM Sans 18pt"/>
                <a:cs typeface="DM Sans 18pt"/>
              </a:rPr>
              <a:t>Robot </a:t>
            </a:r>
            <a:r>
              <a:rPr dirty="0" sz="7300" spc="-10" b="1">
                <a:latin typeface="DM Sans 18pt"/>
                <a:cs typeface="DM Sans 18pt"/>
              </a:rPr>
              <a:t>Control</a:t>
            </a:r>
            <a:endParaRPr sz="7300">
              <a:latin typeface="DM Sans 18pt"/>
              <a:cs typeface="DM Sans 18p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49150" y="563767"/>
            <a:ext cx="232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4191A"/>
                </a:solidFill>
                <a:latin typeface="DM Sans"/>
                <a:cs typeface="DM Sans"/>
              </a:rPr>
              <a:t>13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" y="0"/>
            <a:ext cx="18288000" cy="10287000"/>
            <a:chOff x="32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" y="0"/>
              <a:ext cx="18287967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014043" y="3373455"/>
              <a:ext cx="0" cy="5910580"/>
            </a:xfrm>
            <a:custGeom>
              <a:avLst/>
              <a:gdLst/>
              <a:ahLst/>
              <a:cxnLst/>
              <a:rect l="l" t="t" r="r" b="b"/>
              <a:pathLst>
                <a:path w="0" h="5910580">
                  <a:moveTo>
                    <a:pt x="0" y="591023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274188" y="3373455"/>
              <a:ext cx="0" cy="5910580"/>
            </a:xfrm>
            <a:custGeom>
              <a:avLst/>
              <a:gdLst/>
              <a:ahLst/>
              <a:cxnLst/>
              <a:rect l="l" t="t" r="r" b="b"/>
              <a:pathLst>
                <a:path w="0" h="5910580">
                  <a:moveTo>
                    <a:pt x="0" y="591023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2385575" y="6858440"/>
            <a:ext cx="4961255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Why</a:t>
            </a:r>
            <a:r>
              <a:rPr dirty="0" sz="2900" spc="-8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it</a:t>
            </a:r>
            <a:r>
              <a:rPr dirty="0" sz="2900" spc="-7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matters</a:t>
            </a:r>
            <a:r>
              <a:rPr dirty="0" sz="2900" spc="-7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in</a:t>
            </a:r>
            <a:r>
              <a:rPr dirty="0" sz="2900" spc="-7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practice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threshold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reduces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twitchy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switching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between classes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over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time.</a:t>
            </a:r>
            <a:endParaRPr sz="1950">
              <a:latin typeface="DM Sans"/>
              <a:cs typeface="DM Sans"/>
            </a:endParaRPr>
          </a:p>
          <a:p>
            <a:pPr marL="224790" marR="35560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This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supports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safer,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steadier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behavior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during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real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robot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control.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45722" y="6858440"/>
            <a:ext cx="4725035" cy="2410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52575">
              <a:lnSpc>
                <a:spcPct val="100000"/>
              </a:lnSpc>
              <a:spcBef>
                <a:spcPts val="100"/>
              </a:spcBef>
            </a:pPr>
            <a:r>
              <a:rPr dirty="0" sz="2900" spc="-25">
                <a:solidFill>
                  <a:srgbClr val="04191A"/>
                </a:solidFill>
                <a:latin typeface="DM Sans"/>
                <a:cs typeface="DM Sans"/>
              </a:rPr>
              <a:t>Confidence-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gated commands</a:t>
            </a:r>
            <a:endParaRPr sz="2900">
              <a:latin typeface="DM Sans"/>
              <a:cs typeface="DM Sans"/>
            </a:endParaRPr>
          </a:p>
          <a:p>
            <a:pPr marL="224790" marR="100012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Only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send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robot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actions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20">
                <a:solidFill>
                  <a:srgbClr val="04191A"/>
                </a:solidFill>
                <a:latin typeface="DM Sans"/>
                <a:cs typeface="DM Sans"/>
              </a:rPr>
              <a:t>when </a:t>
            </a:r>
            <a:r>
              <a:rPr dirty="0" sz="1950" spc="-2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confidence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is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at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least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20" b="1">
                <a:solidFill>
                  <a:srgbClr val="04191A"/>
                </a:solidFill>
                <a:latin typeface="DM Sans"/>
                <a:cs typeface="DM Sans"/>
              </a:rPr>
              <a:t>65%</a:t>
            </a:r>
            <a:r>
              <a:rPr dirty="0" sz="1950" spc="-20">
                <a:solidFill>
                  <a:srgbClr val="04191A"/>
                </a:solidFill>
                <a:latin typeface="DM Sans"/>
                <a:cs typeface="DM Sans"/>
              </a:rPr>
              <a:t>.</a:t>
            </a:r>
            <a:endParaRPr sz="195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 spc="-20">
                <a:solidFill>
                  <a:srgbClr val="04191A"/>
                </a:solidFill>
                <a:latin typeface="DM Sans"/>
                <a:cs typeface="DM Sans"/>
              </a:rPr>
              <a:t>Lower-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confidence</a:t>
            </a:r>
            <a:r>
              <a:rPr dirty="0" sz="1950" spc="7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outputs</a:t>
            </a:r>
            <a:r>
              <a:rPr dirty="0" sz="1950" spc="7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are</a:t>
            </a:r>
            <a:r>
              <a:rPr dirty="0" sz="1950" spc="7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treated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as</a:t>
            </a:r>
            <a:r>
              <a:rPr dirty="0" sz="1950" spc="5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uncertain</a:t>
            </a:r>
            <a:r>
              <a:rPr dirty="0" sz="1950" spc="5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5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ignored.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5866" y="6858440"/>
            <a:ext cx="4718685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Separating</a:t>
            </a:r>
            <a:r>
              <a:rPr dirty="0" sz="2900" spc="-8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intent</a:t>
            </a:r>
            <a:r>
              <a:rPr dirty="0" sz="2900" spc="-8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patterns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04191A"/>
                </a:solidFill>
                <a:latin typeface="DM Sans"/>
                <a:cs typeface="DM Sans"/>
              </a:rPr>
              <a:t>RBF</a:t>
            </a:r>
            <a:r>
              <a:rPr dirty="0" sz="1950" spc="25" b="1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04191A"/>
                </a:solidFill>
                <a:latin typeface="DM Sans"/>
                <a:cs typeface="DM Sans"/>
              </a:rPr>
              <a:t>SVM</a:t>
            </a:r>
            <a:r>
              <a:rPr dirty="0" sz="1950" spc="90" b="1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draws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ﬂexible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boundaries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between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movement-intent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clusters.</a:t>
            </a:r>
            <a:endParaRPr sz="1950">
              <a:latin typeface="DM Sans"/>
              <a:cs typeface="DM Sans"/>
            </a:endParaRPr>
          </a:p>
          <a:p>
            <a:pPr marL="224790" marR="40322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This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turns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extracted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features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into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50">
                <a:solidFill>
                  <a:srgbClr val="04191A"/>
                </a:solidFill>
                <a:latin typeface="DM Sans"/>
                <a:cs typeface="DM Sans"/>
              </a:rPr>
              <a:t>a </a:t>
            </a:r>
            <a:r>
              <a:rPr dirty="0" sz="1950" spc="-5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single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predicted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class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label.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46795" y="561158"/>
            <a:ext cx="235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4191A"/>
                </a:solidFill>
                <a:latin typeface="DM Sans"/>
                <a:cs typeface="DM Sans"/>
              </a:rPr>
              <a:t>14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DM Sans"/>
                <a:cs typeface="DM Sans"/>
              </a:rPr>
              <a:t>SVM</a:t>
            </a:r>
            <a:r>
              <a:rPr dirty="0" spc="-114">
                <a:latin typeface="DM Sans"/>
                <a:cs typeface="DM Sans"/>
              </a:rPr>
              <a:t> </a:t>
            </a:r>
            <a:r>
              <a:rPr dirty="0">
                <a:latin typeface="DM Sans"/>
                <a:cs typeface="DM Sans"/>
              </a:rPr>
              <a:t>+</a:t>
            </a:r>
            <a:r>
              <a:rPr dirty="0" spc="-114">
                <a:latin typeface="DM Sans"/>
                <a:cs typeface="DM Sans"/>
              </a:rPr>
              <a:t> </a:t>
            </a:r>
            <a:r>
              <a:rPr dirty="0">
                <a:latin typeface="DM Sans"/>
                <a:cs typeface="DM Sans"/>
              </a:rPr>
              <a:t>Confidence</a:t>
            </a:r>
            <a:r>
              <a:rPr dirty="0" spc="-114">
                <a:latin typeface="DM Sans"/>
                <a:cs typeface="DM Sans"/>
              </a:rPr>
              <a:t> </a:t>
            </a:r>
            <a:r>
              <a:rPr dirty="0" spc="-20">
                <a:latin typeface="DM Sans"/>
                <a:cs typeface="DM Sans"/>
              </a:rPr>
              <a:t>Gate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918603" y="3373453"/>
            <a:ext cx="16451580" cy="3175000"/>
            <a:chOff x="918603" y="3373453"/>
            <a:chExt cx="16451580" cy="31750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98311" y="3373453"/>
              <a:ext cx="4971364" cy="31746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8457" y="3373453"/>
              <a:ext cx="4971376" cy="31746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603" y="3373453"/>
              <a:ext cx="4971364" cy="317461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05866" y="561158"/>
            <a:ext cx="4225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4191A"/>
                </a:solidFill>
                <a:latin typeface="DM Sans"/>
                <a:cs typeface="DM Sans"/>
              </a:rPr>
              <a:t>CLASSIFICATION</a:t>
            </a:r>
            <a:r>
              <a:rPr dirty="0" sz="1800" spc="-5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800" spc="-5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DM Sans"/>
                <a:cs typeface="DM Sans"/>
              </a:rPr>
              <a:t>ROBOT</a:t>
            </a:r>
            <a:r>
              <a:rPr dirty="0" sz="1800" spc="-5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DM Sans"/>
                <a:cs typeface="DM Sans"/>
              </a:rPr>
              <a:t>CONTROL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" y="0"/>
            <a:ext cx="18288000" cy="10287000"/>
            <a:chOff x="32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0735" y="6304775"/>
              <a:ext cx="3530638" cy="18313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0735" y="4005757"/>
              <a:ext cx="3530638" cy="18313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0735" y="1706752"/>
              <a:ext cx="3530638" cy="1831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50735" y="6112938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 h="0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50735" y="3813925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 h="0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041657" y="3937812"/>
            <a:ext cx="6059170" cy="3298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25">
                <a:solidFill>
                  <a:srgbClr val="04191A"/>
                </a:solidFill>
                <a:latin typeface="DM Sans"/>
                <a:cs typeface="DM Sans"/>
              </a:rPr>
              <a:t>Intent-</a:t>
            </a:r>
            <a:r>
              <a:rPr dirty="0" sz="2900" spc="-35">
                <a:solidFill>
                  <a:srgbClr val="04191A"/>
                </a:solidFill>
                <a:latin typeface="DM Sans"/>
                <a:cs typeface="DM Sans"/>
              </a:rPr>
              <a:t>to-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direction</a:t>
            </a:r>
            <a:r>
              <a:rPr dirty="0" sz="2900" spc="-5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mapping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LEFT_HAND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RIGHT_HAND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shift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arm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left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25">
                <a:solidFill>
                  <a:srgbClr val="04191A"/>
                </a:solidFill>
                <a:latin typeface="DM Sans"/>
                <a:cs typeface="DM Sans"/>
              </a:rPr>
              <a:t>or </a:t>
            </a:r>
            <a:r>
              <a:rPr dirty="0" sz="1950" spc="-25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right.</a:t>
            </a:r>
            <a:endParaRPr sz="1950">
              <a:latin typeface="DM Sans"/>
              <a:cs typeface="DM Sans"/>
            </a:endParaRPr>
          </a:p>
          <a:p>
            <a:pPr marL="224790" marR="7620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FEET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TONGUE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drive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end-effector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front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25">
                <a:solidFill>
                  <a:srgbClr val="04191A"/>
                </a:solidFill>
                <a:latin typeface="DM Sans"/>
                <a:cs typeface="DM Sans"/>
              </a:rPr>
              <a:t>or </a:t>
            </a:r>
            <a:r>
              <a:rPr dirty="0" sz="1950" spc="-25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back.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Clr>
                <a:srgbClr val="04191A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Safe</a:t>
            </a:r>
            <a:r>
              <a:rPr dirty="0" sz="2900" spc="-114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default</a:t>
            </a:r>
            <a:r>
              <a:rPr dirty="0" sz="2900" spc="-114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behavior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BASELINE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always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sends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robot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back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to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 b="1">
                <a:solidFill>
                  <a:srgbClr val="04191A"/>
                </a:solidFill>
                <a:latin typeface="DM Sans"/>
                <a:cs typeface="DM Sans"/>
              </a:rPr>
              <a:t>HOME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1657" y="1638797"/>
            <a:ext cx="6320790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Robot</a:t>
            </a:r>
            <a:r>
              <a:rPr dirty="0" sz="2900" spc="-16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command</a:t>
            </a:r>
            <a:r>
              <a:rPr dirty="0" sz="2900" spc="-16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format</a:t>
            </a:r>
            <a:endParaRPr sz="2900">
              <a:latin typeface="DM Sans"/>
              <a:cs typeface="DM Sans"/>
            </a:endParaRPr>
          </a:p>
          <a:p>
            <a:pPr marL="224790" marR="28321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Each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prediction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becomes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UR5e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pose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command: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[x,</a:t>
            </a:r>
            <a:r>
              <a:rPr dirty="0" sz="1950" spc="-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y,</a:t>
            </a:r>
            <a:r>
              <a:rPr dirty="0" sz="1950" spc="-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z,</a:t>
            </a:r>
            <a:r>
              <a:rPr dirty="0" sz="1950" spc="-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rx,</a:t>
            </a:r>
            <a:r>
              <a:rPr dirty="0" sz="1950" spc="-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ry,</a:t>
            </a:r>
            <a:r>
              <a:rPr dirty="0" sz="1950" spc="-20">
                <a:solidFill>
                  <a:srgbClr val="04191A"/>
                </a:solidFill>
                <a:latin typeface="DM Sans"/>
                <a:cs typeface="DM Sans"/>
              </a:rPr>
              <a:t> rz].</a:t>
            </a:r>
            <a:endParaRPr sz="195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Pose targets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are predefined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so motions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look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smooth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repeatable.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144615" y="562607"/>
            <a:ext cx="2368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4191A"/>
                </a:solidFill>
                <a:latin typeface="DM Sans"/>
                <a:cs typeface="DM Sans"/>
              </a:rPr>
              <a:t>15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5785" y="562607"/>
            <a:ext cx="4225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04191A"/>
                </a:solidFill>
                <a:latin typeface="DM Sans"/>
                <a:cs typeface="DM Sans"/>
              </a:rPr>
              <a:t>CLASSIFICATION</a:t>
            </a:r>
            <a:r>
              <a:rPr dirty="0" sz="1800" spc="-5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800" spc="-5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DM Sans"/>
                <a:cs typeface="DM Sans"/>
              </a:rPr>
              <a:t>ROBOT</a:t>
            </a:r>
            <a:r>
              <a:rPr dirty="0" sz="1800" spc="-5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DM Sans"/>
                <a:cs typeface="DM Sans"/>
              </a:rPr>
              <a:t>CONTROL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5866" y="1606411"/>
            <a:ext cx="3465829" cy="131064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 marR="5080">
              <a:lnSpc>
                <a:spcPts val="4600"/>
              </a:lnSpc>
              <a:spcBef>
                <a:spcPts val="1019"/>
              </a:spcBef>
            </a:pPr>
            <a:r>
              <a:rPr dirty="0" sz="4600">
                <a:solidFill>
                  <a:srgbClr val="04191A"/>
                </a:solidFill>
                <a:latin typeface="DM Sans"/>
                <a:cs typeface="DM Sans"/>
              </a:rPr>
              <a:t>UR5e</a:t>
            </a:r>
            <a:r>
              <a:rPr dirty="0" sz="4600" spc="-15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4600" spc="-20">
                <a:solidFill>
                  <a:srgbClr val="04191A"/>
                </a:solidFill>
                <a:latin typeface="DM Sans"/>
                <a:cs typeface="DM Sans"/>
              </a:rPr>
              <a:t>Motion </a:t>
            </a:r>
            <a:r>
              <a:rPr dirty="0" sz="4600" spc="-10">
                <a:solidFill>
                  <a:srgbClr val="04191A"/>
                </a:solidFill>
                <a:latin typeface="DM Sans"/>
                <a:cs typeface="DM Sans"/>
              </a:rPr>
              <a:t>Mapping</a:t>
            </a:r>
            <a:endParaRPr sz="46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5904" y="7669151"/>
            <a:ext cx="11579860" cy="1137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300" spc="-635" b="1">
                <a:solidFill>
                  <a:srgbClr val="FFFFFF"/>
                </a:solidFill>
                <a:latin typeface="DM Sans 18pt"/>
                <a:cs typeface="DM Sans 18pt"/>
              </a:rPr>
              <a:t>T</a:t>
            </a:r>
            <a:r>
              <a:rPr dirty="0" sz="7300" spc="35" b="1">
                <a:solidFill>
                  <a:srgbClr val="FFFFFF"/>
                </a:solidFill>
                <a:latin typeface="DM Sans 18pt"/>
                <a:cs typeface="DM Sans 18pt"/>
              </a:rPr>
              <a:t>e</a:t>
            </a:r>
            <a:r>
              <a:rPr dirty="0" sz="7300" spc="-75" b="1">
                <a:solidFill>
                  <a:srgbClr val="FFFFFF"/>
                </a:solidFill>
                <a:latin typeface="DM Sans 18pt"/>
                <a:cs typeface="DM Sans 18pt"/>
              </a:rPr>
              <a:t>s</a:t>
            </a:r>
            <a:r>
              <a:rPr dirty="0" sz="7300" spc="35" b="1">
                <a:solidFill>
                  <a:srgbClr val="FFFFFF"/>
                </a:solidFill>
                <a:latin typeface="DM Sans 18pt"/>
                <a:cs typeface="DM Sans 18pt"/>
              </a:rPr>
              <a:t>ting,</a:t>
            </a:r>
            <a:r>
              <a:rPr dirty="0" sz="7300" spc="-240" b="1">
                <a:solidFill>
                  <a:srgbClr val="FFFFFF"/>
                </a:solidFill>
                <a:latin typeface="DM Sans 18pt"/>
                <a:cs typeface="DM Sans 18pt"/>
              </a:rPr>
              <a:t> </a:t>
            </a:r>
            <a:r>
              <a:rPr dirty="0" sz="7300" b="1">
                <a:solidFill>
                  <a:srgbClr val="FFFFFF"/>
                </a:solidFill>
                <a:latin typeface="DM Sans 18pt"/>
                <a:cs typeface="DM Sans 18pt"/>
              </a:rPr>
              <a:t>Data,</a:t>
            </a:r>
            <a:r>
              <a:rPr dirty="0" sz="7300" spc="-245" b="1">
                <a:solidFill>
                  <a:srgbClr val="FFFFFF"/>
                </a:solidFill>
                <a:latin typeface="DM Sans 18pt"/>
                <a:cs typeface="DM Sans 18pt"/>
              </a:rPr>
              <a:t> </a:t>
            </a:r>
            <a:r>
              <a:rPr dirty="0" sz="7300" b="1">
                <a:solidFill>
                  <a:srgbClr val="FFFFFF"/>
                </a:solidFill>
                <a:latin typeface="DM Sans 18pt"/>
                <a:cs typeface="DM Sans 18pt"/>
              </a:rPr>
              <a:t>and</a:t>
            </a:r>
            <a:r>
              <a:rPr dirty="0" sz="7300" spc="-240" b="1">
                <a:solidFill>
                  <a:srgbClr val="FFFFFF"/>
                </a:solidFill>
                <a:latin typeface="DM Sans 18pt"/>
                <a:cs typeface="DM Sans 18pt"/>
              </a:rPr>
              <a:t> </a:t>
            </a:r>
            <a:r>
              <a:rPr dirty="0" sz="7300" spc="-10" b="1">
                <a:solidFill>
                  <a:srgbClr val="FFFFFF"/>
                </a:solidFill>
                <a:latin typeface="DM Sans 18pt"/>
                <a:cs typeface="DM Sans 18pt"/>
              </a:rPr>
              <a:t>Results</a:t>
            </a:r>
            <a:endParaRPr sz="7300">
              <a:latin typeface="DM Sans 18pt"/>
              <a:cs typeface="DM Sans 18p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40463" y="562607"/>
            <a:ext cx="240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DM Sans"/>
                <a:cs typeface="DM Sans"/>
              </a:rPr>
              <a:t>16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676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BCI</a:t>
            </a:r>
            <a:r>
              <a:rPr dirty="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Pipeline</a:t>
            </a:r>
            <a:r>
              <a:rPr dirty="0" spc="-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pc="-10">
                <a:solidFill>
                  <a:srgbClr val="FFFFFF"/>
                </a:solidFill>
                <a:latin typeface="DM Sans"/>
                <a:cs typeface="DM Sans"/>
              </a:rPr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9374" y="3433161"/>
            <a:ext cx="7785100" cy="395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Why</a:t>
            </a:r>
            <a:r>
              <a:rPr dirty="0" sz="2900" spc="-10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we</a:t>
            </a:r>
            <a:r>
              <a:rPr dirty="0" sz="2900" spc="-9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simulated</a:t>
            </a:r>
            <a:endParaRPr sz="290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With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no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EEG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headset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available,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we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validated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pipeline</a:t>
            </a:r>
            <a:r>
              <a:rPr dirty="0" sz="1950" spc="2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in</a:t>
            </a:r>
            <a:r>
              <a:rPr dirty="0" sz="1950" spc="2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Python.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How</a:t>
            </a:r>
            <a:r>
              <a:rPr dirty="0" sz="2900" spc="-1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we</a:t>
            </a:r>
            <a:r>
              <a:rPr dirty="0" sz="2900" spc="-10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generated</a:t>
            </a:r>
            <a:r>
              <a:rPr dirty="0" sz="2900" spc="-11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signals</a:t>
            </a:r>
            <a:endParaRPr sz="2900">
              <a:latin typeface="DM Sans"/>
              <a:cs typeface="DM Sans"/>
            </a:endParaRPr>
          </a:p>
          <a:p>
            <a:pPr marL="12700" marR="1329690">
              <a:lnSpc>
                <a:spcPct val="101499"/>
              </a:lnSpc>
              <a:spcBef>
                <a:spcPts val="1810"/>
              </a:spcBef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Synthetic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motor-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rhythm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sine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waves</a:t>
            </a:r>
            <a:r>
              <a:rPr dirty="0" sz="1950" spc="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were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embedded</a:t>
            </a:r>
            <a:r>
              <a:rPr dirty="0" sz="1950" spc="3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DM Sans"/>
                <a:cs typeface="DM Sans"/>
              </a:rPr>
              <a:t>in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25-channel</a:t>
            </a:r>
            <a:r>
              <a:rPr dirty="0" sz="1950" spc="10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noise.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What</a:t>
            </a:r>
            <a:r>
              <a:rPr dirty="0" sz="2900" spc="-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FFFFFF"/>
                </a:solidFill>
                <a:latin typeface="DM Sans"/>
                <a:cs typeface="DM Sans"/>
              </a:rPr>
              <a:t>this</a:t>
            </a:r>
            <a:r>
              <a:rPr dirty="0" sz="2900" spc="-3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DM Sans"/>
                <a:cs typeface="DM Sans"/>
              </a:rPr>
              <a:t>proved</a:t>
            </a:r>
            <a:endParaRPr sz="290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CSP,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PSD,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SVM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produced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stable,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end-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to-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end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FFFFFF"/>
                </a:solidFill>
                <a:latin typeface="DM Sans"/>
                <a:cs typeface="DM Sans"/>
              </a:rPr>
              <a:t>control</a:t>
            </a:r>
            <a:r>
              <a:rPr dirty="0" sz="1950" spc="1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DM Sans"/>
                <a:cs typeface="DM Sans"/>
              </a:rPr>
              <a:t>outputs.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62198" y="561158"/>
            <a:ext cx="219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DM Sans"/>
                <a:cs typeface="DM Sans"/>
              </a:rPr>
              <a:t>17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 h="0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5904" y="561158"/>
            <a:ext cx="3098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TESTING,</a:t>
            </a:r>
            <a:r>
              <a:rPr dirty="0" sz="1800" spc="-7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DM Sans"/>
                <a:cs typeface="DM Sans"/>
              </a:rPr>
              <a:t>DATA,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800" spc="-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RESULTS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676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Real</a:t>
            </a:r>
            <a:r>
              <a:rPr dirty="0" spc="-8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Clinical</a:t>
            </a:r>
            <a:r>
              <a:rPr dirty="0" spc="-7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>
                <a:solidFill>
                  <a:srgbClr val="FFFFFF"/>
                </a:solidFill>
                <a:latin typeface="DM Sans"/>
                <a:cs typeface="DM Sans"/>
              </a:rPr>
              <a:t>Data</a:t>
            </a:r>
            <a:r>
              <a:rPr dirty="0" spc="-8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pc="-10">
                <a:solidFill>
                  <a:srgbClr val="FFFFFF"/>
                </a:solidFill>
                <a:latin typeface="DM Sans"/>
                <a:cs typeface="DM Sans"/>
              </a:rPr>
              <a:t>Input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Clinical</a:t>
            </a:r>
            <a:r>
              <a:rPr dirty="0" spc="-50"/>
              <a:t> </a:t>
            </a:r>
            <a:r>
              <a:rPr dirty="0"/>
              <a:t>benchmark</a:t>
            </a:r>
            <a:r>
              <a:rPr dirty="0" spc="-50"/>
              <a:t> </a:t>
            </a:r>
            <a:r>
              <a:rPr dirty="0" spc="-10"/>
              <a:t>dataset</a:t>
            </a: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dirty="0" sz="1950"/>
              <a:t>We</a:t>
            </a:r>
            <a:r>
              <a:rPr dirty="0" sz="1950" spc="30"/>
              <a:t> </a:t>
            </a:r>
            <a:r>
              <a:rPr dirty="0" sz="1950"/>
              <a:t>used</a:t>
            </a:r>
            <a:r>
              <a:rPr dirty="0" sz="1950" spc="35"/>
              <a:t> </a:t>
            </a:r>
            <a:r>
              <a:rPr dirty="0" sz="1950"/>
              <a:t>Subject</a:t>
            </a:r>
            <a:r>
              <a:rPr dirty="0" sz="1950" spc="30"/>
              <a:t> </a:t>
            </a:r>
            <a:r>
              <a:rPr dirty="0" sz="1950"/>
              <a:t>1</a:t>
            </a:r>
            <a:r>
              <a:rPr dirty="0" sz="1950" spc="35"/>
              <a:t> </a:t>
            </a:r>
            <a:r>
              <a:rPr dirty="0" sz="1950"/>
              <a:t>training</a:t>
            </a:r>
            <a:r>
              <a:rPr dirty="0" sz="1950" spc="35"/>
              <a:t> </a:t>
            </a:r>
            <a:r>
              <a:rPr dirty="0" sz="1950"/>
              <a:t>data</a:t>
            </a:r>
            <a:r>
              <a:rPr dirty="0" sz="1950" spc="30"/>
              <a:t> </a:t>
            </a:r>
            <a:r>
              <a:rPr dirty="0" sz="1950"/>
              <a:t>from</a:t>
            </a:r>
            <a:r>
              <a:rPr dirty="0" sz="1950" spc="35"/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BCI</a:t>
            </a:r>
            <a:r>
              <a:rPr dirty="0" sz="1950" spc="30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Competition</a:t>
            </a:r>
            <a:r>
              <a:rPr dirty="0" sz="1950" spc="30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spc="-20" b="1">
                <a:solidFill>
                  <a:srgbClr val="2DC295"/>
                </a:solidFill>
                <a:latin typeface="DM Sans"/>
                <a:cs typeface="DM Sans"/>
              </a:rPr>
              <a:t>IV-</a:t>
            </a:r>
            <a:r>
              <a:rPr dirty="0" sz="1950" spc="-25" b="1">
                <a:solidFill>
                  <a:srgbClr val="2DC295"/>
                </a:solidFill>
                <a:latin typeface="DM Sans"/>
                <a:cs typeface="DM Sans"/>
              </a:rPr>
              <a:t>2a</a:t>
            </a:r>
            <a:r>
              <a:rPr dirty="0" sz="1950" spc="-25">
                <a:latin typeface="DM Sans"/>
                <a:cs typeface="DM Sans"/>
              </a:rPr>
              <a:t>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/>
              <a:t>Clean</a:t>
            </a:r>
            <a:r>
              <a:rPr dirty="0" spc="-30"/>
              <a:t> </a:t>
            </a:r>
            <a:r>
              <a:rPr dirty="0"/>
              <a:t>trial</a:t>
            </a:r>
            <a:r>
              <a:rPr dirty="0" spc="-25"/>
              <a:t> </a:t>
            </a:r>
            <a:r>
              <a:rPr dirty="0" spc="-10"/>
              <a:t>labeling</a:t>
            </a:r>
          </a:p>
          <a:p>
            <a:pPr marL="224790" marR="6540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/>
              <a:t>Embedded</a:t>
            </a:r>
            <a:r>
              <a:rPr dirty="0" sz="1950" spc="25"/>
              <a:t> </a:t>
            </a:r>
            <a:r>
              <a:rPr dirty="0" sz="1950"/>
              <a:t>digital</a:t>
            </a:r>
            <a:r>
              <a:rPr dirty="0" sz="1950" spc="30"/>
              <a:t> </a:t>
            </a:r>
            <a:r>
              <a:rPr dirty="0" sz="1950"/>
              <a:t>event</a:t>
            </a:r>
            <a:r>
              <a:rPr dirty="0" sz="1950" spc="30"/>
              <a:t> </a:t>
            </a:r>
            <a:r>
              <a:rPr dirty="0" sz="1950"/>
              <a:t>markers</a:t>
            </a:r>
            <a:r>
              <a:rPr dirty="0" sz="1950" spc="25"/>
              <a:t> </a:t>
            </a:r>
            <a:r>
              <a:rPr dirty="0" sz="1950"/>
              <a:t>split</a:t>
            </a:r>
            <a:r>
              <a:rPr dirty="0" sz="1950" spc="30"/>
              <a:t> </a:t>
            </a:r>
            <a:r>
              <a:rPr dirty="0" sz="1950"/>
              <a:t>recordings</a:t>
            </a:r>
            <a:r>
              <a:rPr dirty="0" sz="1950" spc="30"/>
              <a:t> </a:t>
            </a:r>
            <a:r>
              <a:rPr dirty="0" sz="1950"/>
              <a:t>into</a:t>
            </a:r>
            <a:r>
              <a:rPr dirty="0" sz="1950" spc="25"/>
              <a:t> </a:t>
            </a:r>
            <a:r>
              <a:rPr dirty="0" sz="1950" spc="-10"/>
              <a:t>labeled </a:t>
            </a:r>
            <a:r>
              <a:rPr dirty="0" sz="1950" spc="-10"/>
              <a:t>	</a:t>
            </a:r>
            <a:r>
              <a:rPr dirty="0" sz="1950"/>
              <a:t>imagery</a:t>
            </a:r>
            <a:r>
              <a:rPr dirty="0" sz="1950" spc="35"/>
              <a:t> </a:t>
            </a:r>
            <a:r>
              <a:rPr dirty="0" sz="1950" spc="-10"/>
              <a:t>segments.</a:t>
            </a:r>
            <a:endParaRPr sz="1950"/>
          </a:p>
          <a:p>
            <a:pPr marL="224790" marR="54292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/>
              <a:t>This</a:t>
            </a:r>
            <a:r>
              <a:rPr dirty="0" sz="1950" spc="35"/>
              <a:t> </a:t>
            </a:r>
            <a:r>
              <a:rPr dirty="0" sz="1950"/>
              <a:t>produced</a:t>
            </a:r>
            <a:r>
              <a:rPr dirty="0" sz="1950" spc="40"/>
              <a:t> </a:t>
            </a:r>
            <a:r>
              <a:rPr dirty="0" sz="1950" b="1">
                <a:solidFill>
                  <a:srgbClr val="2DC295"/>
                </a:solidFill>
                <a:latin typeface="DM Sans"/>
                <a:cs typeface="DM Sans"/>
              </a:rPr>
              <a:t>288</a:t>
            </a:r>
            <a:r>
              <a:rPr dirty="0" sz="1950" spc="100" b="1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dirty="0" sz="1950" spc="-10"/>
              <a:t>motor-</a:t>
            </a:r>
            <a:r>
              <a:rPr dirty="0" sz="1950"/>
              <a:t>imagery</a:t>
            </a:r>
            <a:r>
              <a:rPr dirty="0" sz="1950" spc="40"/>
              <a:t> </a:t>
            </a:r>
            <a:r>
              <a:rPr dirty="0" sz="1950"/>
              <a:t>trials</a:t>
            </a:r>
            <a:r>
              <a:rPr dirty="0" sz="1950" spc="35"/>
              <a:t> </a:t>
            </a:r>
            <a:r>
              <a:rPr dirty="0" sz="1950"/>
              <a:t>ready</a:t>
            </a:r>
            <a:r>
              <a:rPr dirty="0" sz="1950" spc="40"/>
              <a:t> </a:t>
            </a:r>
            <a:r>
              <a:rPr dirty="0" sz="1950"/>
              <a:t>for</a:t>
            </a:r>
            <a:r>
              <a:rPr dirty="0" sz="1950" spc="40"/>
              <a:t> </a:t>
            </a:r>
            <a:r>
              <a:rPr dirty="0" sz="1950" spc="-10"/>
              <a:t>model 	training.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FFFFF"/>
              </a:buClr>
              <a:buFont typeface="Times New Roman"/>
              <a:buChar char="•"/>
            </a:pPr>
            <a:endParaRPr sz="19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Apples-</a:t>
            </a:r>
            <a:r>
              <a:rPr dirty="0" spc="-15"/>
              <a:t>to-</a:t>
            </a:r>
            <a:r>
              <a:rPr dirty="0"/>
              <a:t>apples </a:t>
            </a:r>
            <a:r>
              <a:rPr dirty="0" spc="-10"/>
              <a:t>comparison</a:t>
            </a:r>
          </a:p>
          <a:p>
            <a:pPr marL="224790" marR="68834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/>
              <a:t>Trials</a:t>
            </a:r>
            <a:r>
              <a:rPr dirty="0" sz="1950" spc="10"/>
              <a:t> </a:t>
            </a:r>
            <a:r>
              <a:rPr dirty="0" sz="1950"/>
              <a:t>were</a:t>
            </a:r>
            <a:r>
              <a:rPr dirty="0" sz="1950" spc="10"/>
              <a:t> </a:t>
            </a:r>
            <a:r>
              <a:rPr dirty="0" sz="1950"/>
              <a:t>exported</a:t>
            </a:r>
            <a:r>
              <a:rPr dirty="0" sz="1950" spc="10"/>
              <a:t> </a:t>
            </a:r>
            <a:r>
              <a:rPr dirty="0" sz="1950"/>
              <a:t>as</a:t>
            </a:r>
            <a:r>
              <a:rPr dirty="0" sz="1950" spc="10"/>
              <a:t> </a:t>
            </a:r>
            <a:r>
              <a:rPr dirty="0" sz="1950"/>
              <a:t>a</a:t>
            </a:r>
            <a:r>
              <a:rPr dirty="0" sz="1950" spc="10"/>
              <a:t> </a:t>
            </a:r>
            <a:r>
              <a:rPr dirty="0" sz="1950"/>
              <a:t>25-channel</a:t>
            </a:r>
            <a:r>
              <a:rPr dirty="0" sz="1950" spc="15"/>
              <a:t> </a:t>
            </a:r>
            <a:r>
              <a:rPr dirty="0" sz="1950"/>
              <a:t>CSV</a:t>
            </a:r>
            <a:r>
              <a:rPr dirty="0" sz="1950" spc="10"/>
              <a:t> </a:t>
            </a:r>
            <a:r>
              <a:rPr dirty="0" sz="1950"/>
              <a:t>matching</a:t>
            </a:r>
            <a:r>
              <a:rPr dirty="0" sz="1950" spc="10"/>
              <a:t> </a:t>
            </a:r>
            <a:r>
              <a:rPr dirty="0" sz="1950" spc="-25"/>
              <a:t>our </a:t>
            </a:r>
            <a:r>
              <a:rPr dirty="0" sz="1950" spc="-25"/>
              <a:t>	</a:t>
            </a:r>
            <a:r>
              <a:rPr dirty="0" sz="1950"/>
              <a:t>simulation</a:t>
            </a:r>
            <a:r>
              <a:rPr dirty="0" sz="1950" spc="65"/>
              <a:t> </a:t>
            </a:r>
            <a:r>
              <a:rPr dirty="0" sz="1950" spc="-10"/>
              <a:t>format.</a:t>
            </a:r>
            <a:endParaRPr sz="1950"/>
          </a:p>
          <a:p>
            <a:pPr marL="224790" marR="199453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/>
              <a:t>That</a:t>
            </a:r>
            <a:r>
              <a:rPr dirty="0" sz="1950" spc="5"/>
              <a:t> </a:t>
            </a:r>
            <a:r>
              <a:rPr dirty="0" sz="1950"/>
              <a:t>kept</a:t>
            </a:r>
            <a:r>
              <a:rPr dirty="0" sz="1950" spc="5"/>
              <a:t> </a:t>
            </a:r>
            <a:r>
              <a:rPr dirty="0" sz="1950"/>
              <a:t>preprocessing</a:t>
            </a:r>
            <a:r>
              <a:rPr dirty="0" sz="1950" spc="5"/>
              <a:t> </a:t>
            </a:r>
            <a:r>
              <a:rPr dirty="0" sz="1950"/>
              <a:t>consistent</a:t>
            </a:r>
            <a:r>
              <a:rPr dirty="0" sz="1950" spc="5"/>
              <a:t> </a:t>
            </a:r>
            <a:r>
              <a:rPr dirty="0" sz="1950"/>
              <a:t>for</a:t>
            </a:r>
            <a:r>
              <a:rPr dirty="0" sz="1950" spc="5"/>
              <a:t> </a:t>
            </a:r>
            <a:r>
              <a:rPr dirty="0" sz="1950"/>
              <a:t>a</a:t>
            </a:r>
            <a:r>
              <a:rPr dirty="0" sz="1950" spc="5"/>
              <a:t> </a:t>
            </a:r>
            <a:r>
              <a:rPr dirty="0" sz="1950" spc="-20"/>
              <a:t>fair </a:t>
            </a:r>
            <a:r>
              <a:rPr dirty="0" sz="1950" spc="-20"/>
              <a:t>	</a:t>
            </a:r>
            <a:r>
              <a:rPr dirty="0" sz="1950"/>
              <a:t>simulation-versus-real</a:t>
            </a:r>
            <a:r>
              <a:rPr dirty="0" sz="1950" spc="90"/>
              <a:t> </a:t>
            </a:r>
            <a:r>
              <a:rPr dirty="0" sz="1950" spc="-20"/>
              <a:t>test.</a:t>
            </a:r>
            <a:endParaRPr sz="1950"/>
          </a:p>
        </p:txBody>
      </p:sp>
      <p:sp>
        <p:nvSpPr>
          <p:cNvPr id="4" name="object 4"/>
          <p:cNvSpPr txBox="1"/>
          <p:nvPr/>
        </p:nvSpPr>
        <p:spPr>
          <a:xfrm>
            <a:off x="17145054" y="561158"/>
            <a:ext cx="23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DM Sans"/>
                <a:cs typeface="DM Sans"/>
              </a:rPr>
              <a:t>18</a:t>
            </a:r>
            <a:endParaRPr sz="18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1706752"/>
            <a:ext cx="8580231" cy="8580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582070" y="3108312"/>
            <a:ext cx="6068060" cy="0"/>
          </a:xfrm>
          <a:custGeom>
            <a:avLst/>
            <a:gdLst/>
            <a:ahLst/>
            <a:cxnLst/>
            <a:rect l="l" t="t" r="r" b="b"/>
            <a:pathLst>
              <a:path w="6068059" h="0">
                <a:moveTo>
                  <a:pt x="6067996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5904" y="561158"/>
            <a:ext cx="3098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TESTING,</a:t>
            </a:r>
            <a:r>
              <a:rPr dirty="0" sz="1800" spc="-7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DM Sans"/>
                <a:cs typeface="DM Sans"/>
              </a:rPr>
              <a:t>DATA,</a:t>
            </a:r>
            <a:r>
              <a:rPr dirty="0" sz="1800" spc="-4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dirty="0" sz="1800" spc="-55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DM Sans"/>
                <a:cs typeface="DM Sans"/>
              </a:rPr>
              <a:t>RESULTS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" y="0"/>
            <a:ext cx="18288000" cy="10287000"/>
            <a:chOff x="32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" y="0"/>
              <a:ext cx="18287967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014043" y="3594435"/>
              <a:ext cx="0" cy="5468620"/>
            </a:xfrm>
            <a:custGeom>
              <a:avLst/>
              <a:gdLst/>
              <a:ahLst/>
              <a:cxnLst/>
              <a:rect l="l" t="t" r="r" b="b"/>
              <a:pathLst>
                <a:path w="0" h="5468620">
                  <a:moveTo>
                    <a:pt x="0" y="546827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274188" y="3594435"/>
              <a:ext cx="0" cy="5468620"/>
            </a:xfrm>
            <a:custGeom>
              <a:avLst/>
              <a:gdLst/>
              <a:ahLst/>
              <a:cxnLst/>
              <a:rect l="l" t="t" r="r" b="b"/>
              <a:pathLst>
                <a:path w="0" h="5468620">
                  <a:moveTo>
                    <a:pt x="0" y="546827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2385575" y="7079420"/>
            <a:ext cx="4733925" cy="174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334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Why</a:t>
            </a:r>
            <a:r>
              <a:rPr dirty="0" sz="2900" spc="-9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accuracy</a:t>
            </a:r>
            <a:r>
              <a:rPr dirty="0" sz="2900" spc="-8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drops</a:t>
            </a:r>
            <a:r>
              <a:rPr dirty="0" sz="2900" spc="-7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in</a:t>
            </a:r>
            <a:r>
              <a:rPr dirty="0" sz="2900" spc="-8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20">
                <a:solidFill>
                  <a:srgbClr val="04191A"/>
                </a:solidFill>
                <a:latin typeface="DM Sans"/>
                <a:cs typeface="DM Sans"/>
              </a:rPr>
              <a:t>real data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ERD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changes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are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subtle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get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buried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in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natural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variability.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45722" y="7079420"/>
            <a:ext cx="4978400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Clean</a:t>
            </a:r>
            <a:r>
              <a:rPr dirty="0" sz="2900" spc="-6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math</a:t>
            </a:r>
            <a:r>
              <a:rPr dirty="0" sz="2900" spc="-6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vs</a:t>
            </a:r>
            <a:r>
              <a:rPr dirty="0" sz="2900" spc="-6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messy</a:t>
            </a:r>
            <a:r>
              <a:rPr dirty="0" sz="2900" spc="-7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biology</a:t>
            </a:r>
            <a:endParaRPr sz="2900">
              <a:latin typeface="DM Sans"/>
              <a:cs typeface="DM Sans"/>
            </a:endParaRPr>
          </a:p>
          <a:p>
            <a:pPr marL="224790" marR="2159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Simulation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is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smooth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predictable,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25">
                <a:solidFill>
                  <a:srgbClr val="04191A"/>
                </a:solidFill>
                <a:latin typeface="DM Sans"/>
                <a:cs typeface="DM Sans"/>
              </a:rPr>
              <a:t>so </a:t>
            </a:r>
            <a:r>
              <a:rPr dirty="0" sz="1950" spc="-25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patterns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stand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out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clearly.</a:t>
            </a:r>
            <a:endParaRPr sz="1950">
              <a:latin typeface="DM Sans"/>
              <a:cs typeface="DM Sans"/>
            </a:endParaRPr>
          </a:p>
          <a:p>
            <a:pPr marL="224790" marR="80581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Real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EEG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adds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blinks,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heartbeat,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breathing,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50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Hz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power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noise.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5866" y="7079420"/>
            <a:ext cx="4732020" cy="174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86205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Same</a:t>
            </a:r>
            <a:r>
              <a:rPr dirty="0" sz="2900" spc="-1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structure,</a:t>
            </a:r>
            <a:r>
              <a:rPr dirty="0" sz="2900" spc="-1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20">
                <a:solidFill>
                  <a:srgbClr val="04191A"/>
                </a:solidFill>
                <a:latin typeface="DM Sans"/>
                <a:cs typeface="DM Sans"/>
              </a:rPr>
              <a:t>fair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comparison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Both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streams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use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04191A"/>
                </a:solidFill>
                <a:latin typeface="DM Sans"/>
                <a:cs typeface="DM Sans"/>
              </a:rPr>
              <a:t>250</a:t>
            </a:r>
            <a:r>
              <a:rPr dirty="0" sz="1950" spc="25" b="1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b="1">
                <a:solidFill>
                  <a:srgbClr val="04191A"/>
                </a:solidFill>
                <a:latin typeface="DM Sans"/>
                <a:cs typeface="DM Sans"/>
              </a:rPr>
              <a:t>Hz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,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25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channels,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four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motor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classes.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41766" y="561158"/>
            <a:ext cx="240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4191A"/>
                </a:solidFill>
                <a:latin typeface="DM Sans"/>
                <a:cs typeface="DM Sans"/>
              </a:rPr>
              <a:t>19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Sim</a:t>
            </a:r>
            <a:r>
              <a:rPr dirty="0" spc="-114"/>
              <a:t> </a:t>
            </a:r>
            <a:r>
              <a:rPr dirty="0"/>
              <a:t>vs</a:t>
            </a:r>
            <a:r>
              <a:rPr dirty="0" spc="-110"/>
              <a:t> </a:t>
            </a:r>
            <a:r>
              <a:rPr dirty="0"/>
              <a:t>Real</a:t>
            </a:r>
            <a:r>
              <a:rPr dirty="0" spc="-110"/>
              <a:t> </a:t>
            </a:r>
            <a:r>
              <a:rPr dirty="0" spc="-25"/>
              <a:t>EEG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918603" y="3594434"/>
            <a:ext cx="16451580" cy="3175000"/>
            <a:chOff x="918603" y="3594434"/>
            <a:chExt cx="16451580" cy="31750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98311" y="3594434"/>
              <a:ext cx="4971364" cy="31746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8457" y="3594434"/>
              <a:ext cx="4971376" cy="31746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603" y="3594434"/>
              <a:ext cx="4971364" cy="317461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05866" y="561158"/>
            <a:ext cx="3098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4191A"/>
                </a:solidFill>
                <a:latin typeface="DM Sans"/>
                <a:cs typeface="DM Sans"/>
              </a:rPr>
              <a:t>TESTING,</a:t>
            </a:r>
            <a:r>
              <a:rPr dirty="0" sz="1800" spc="-7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 spc="-80">
                <a:solidFill>
                  <a:srgbClr val="04191A"/>
                </a:solidFill>
                <a:latin typeface="DM Sans"/>
                <a:cs typeface="DM Sans"/>
              </a:rPr>
              <a:t>DATA,</a:t>
            </a:r>
            <a:r>
              <a:rPr dirty="0" sz="1800" spc="-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800" spc="-5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DM Sans"/>
                <a:cs typeface="DM Sans"/>
              </a:rPr>
              <a:t>RESULTS</a:t>
            </a:r>
            <a:endParaRPr sz="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" y="0"/>
            <a:ext cx="18288000" cy="10287000"/>
            <a:chOff x="32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0735" y="6304775"/>
              <a:ext cx="3530638" cy="18313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0735" y="4005757"/>
              <a:ext cx="3530638" cy="18313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0735" y="1706752"/>
              <a:ext cx="3530638" cy="1831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50735" y="6112938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 h="0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50735" y="3813925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 h="0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041657" y="3937812"/>
            <a:ext cx="6296025" cy="4267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Proof</a:t>
            </a:r>
            <a:r>
              <a:rPr dirty="0" sz="2900" spc="-114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of</a:t>
            </a:r>
            <a:r>
              <a:rPr dirty="0" sz="2900" spc="-1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concept</a:t>
            </a:r>
            <a:r>
              <a:rPr dirty="0" sz="2900" spc="-1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validated</a:t>
            </a:r>
            <a:endParaRPr sz="2900">
              <a:latin typeface="DM Sans"/>
              <a:cs typeface="DM Sans"/>
            </a:endParaRPr>
          </a:p>
          <a:p>
            <a:pPr marL="224790" marR="167830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Simulation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runs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reliably,</a:t>
            </a:r>
            <a:r>
              <a:rPr dirty="0" sz="1950" spc="1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showing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clear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intent-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to-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motion</a:t>
            </a:r>
            <a:r>
              <a:rPr dirty="0" sz="1950" spc="9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behavior.</a:t>
            </a:r>
            <a:endParaRPr sz="1950">
              <a:latin typeface="DM Sans"/>
              <a:cs typeface="DM Sans"/>
            </a:endParaRPr>
          </a:p>
          <a:p>
            <a:pPr marL="224790" marR="37084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Confidence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gating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reduces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uncertain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commands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stabilizes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control.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Clr>
                <a:srgbClr val="04191A"/>
              </a:buClr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Next:</a:t>
            </a:r>
            <a:r>
              <a:rPr dirty="0" sz="2900" spc="-9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35">
                <a:solidFill>
                  <a:srgbClr val="04191A"/>
                </a:solidFill>
                <a:latin typeface="DM Sans"/>
                <a:cs typeface="DM Sans"/>
              </a:rPr>
              <a:t>real-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world</a:t>
            </a:r>
            <a:r>
              <a:rPr dirty="0" sz="2900" spc="-9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robustness</a:t>
            </a:r>
            <a:endParaRPr sz="2900">
              <a:latin typeface="DM Sans"/>
              <a:cs typeface="DM Sans"/>
            </a:endParaRPr>
          </a:p>
          <a:p>
            <a:pPr marL="224790" marR="11430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Improve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performance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under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non-stationary</a:t>
            </a:r>
            <a:r>
              <a:rPr dirty="0" sz="1950" spc="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clinical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EEG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noise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4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artifacts.</a:t>
            </a:r>
            <a:endParaRPr sz="195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Retune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features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models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to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better</a:t>
            </a:r>
            <a:r>
              <a:rPr dirty="0" sz="1950" spc="1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expose</a:t>
            </a:r>
            <a:r>
              <a:rPr dirty="0" sz="1950" spc="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subtle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ERD</a:t>
            </a:r>
            <a:r>
              <a:rPr dirty="0" sz="1950" spc="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patterns.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1657" y="1638797"/>
            <a:ext cx="5584825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End-</a:t>
            </a:r>
            <a:r>
              <a:rPr dirty="0" sz="2900" spc="-35">
                <a:solidFill>
                  <a:srgbClr val="04191A"/>
                </a:solidFill>
                <a:latin typeface="DM Sans"/>
                <a:cs typeface="DM Sans"/>
              </a:rPr>
              <a:t>to-</a:t>
            </a:r>
            <a:r>
              <a:rPr dirty="0" sz="2900">
                <a:solidFill>
                  <a:srgbClr val="04191A"/>
                </a:solidFill>
                <a:latin typeface="DM Sans"/>
                <a:cs typeface="DM Sans"/>
              </a:rPr>
              <a:t>end</a:t>
            </a:r>
            <a:r>
              <a:rPr dirty="0" sz="2900" spc="-9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30">
                <a:solidFill>
                  <a:srgbClr val="04191A"/>
                </a:solidFill>
                <a:latin typeface="DM Sans"/>
                <a:cs typeface="DM Sans"/>
              </a:rPr>
              <a:t>system</a:t>
            </a:r>
            <a:r>
              <a:rPr dirty="0" sz="2900" spc="-8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DM Sans"/>
                <a:cs typeface="DM Sans"/>
              </a:rPr>
              <a:t>delivered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EEG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intent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classification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is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fully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linked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to</a:t>
            </a:r>
            <a:r>
              <a:rPr dirty="0" sz="1950" spc="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20">
                <a:solidFill>
                  <a:srgbClr val="04191A"/>
                </a:solidFill>
                <a:latin typeface="DM Sans"/>
                <a:cs typeface="DM Sans"/>
              </a:rPr>
              <a:t>UR5e </a:t>
            </a:r>
            <a:r>
              <a:rPr dirty="0" sz="1950" spc="-2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actuation.</a:t>
            </a:r>
            <a:endParaRPr sz="1950">
              <a:latin typeface="DM Sans"/>
              <a:cs typeface="DM Sans"/>
            </a:endParaRPr>
          </a:p>
          <a:p>
            <a:pPr marL="224790" marR="55244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ROS/Gazebo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provides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a</a:t>
            </a:r>
            <a:r>
              <a:rPr dirty="0" sz="1950" spc="2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complete,</a:t>
            </a:r>
            <a:r>
              <a:rPr dirty="0" sz="1950" spc="2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repeatable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	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closed-loop</a:t>
            </a:r>
            <a:r>
              <a:rPr dirty="0" sz="1950" spc="8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>
                <a:solidFill>
                  <a:srgbClr val="04191A"/>
                </a:solidFill>
                <a:latin typeface="DM Sans"/>
                <a:cs typeface="DM Sans"/>
              </a:rPr>
              <a:t>demo</a:t>
            </a:r>
            <a:r>
              <a:rPr dirty="0" sz="1950" spc="8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950" spc="-10">
                <a:solidFill>
                  <a:srgbClr val="04191A"/>
                </a:solidFill>
                <a:latin typeface="DM Sans"/>
                <a:cs typeface="DM Sans"/>
              </a:rPr>
              <a:t>environment.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69861" y="562607"/>
            <a:ext cx="3092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4191A"/>
                </a:solidFill>
                <a:latin typeface="DM Sans"/>
                <a:cs typeface="DM Sans"/>
              </a:rPr>
              <a:t>20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5784" y="562607"/>
            <a:ext cx="3098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4191A"/>
                </a:solidFill>
                <a:latin typeface="DM Sans"/>
                <a:cs typeface="DM Sans"/>
              </a:rPr>
              <a:t>TESTING,</a:t>
            </a:r>
            <a:r>
              <a:rPr dirty="0" sz="1800" spc="-7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 spc="-80">
                <a:solidFill>
                  <a:srgbClr val="04191A"/>
                </a:solidFill>
                <a:latin typeface="DM Sans"/>
                <a:cs typeface="DM Sans"/>
              </a:rPr>
              <a:t>DATA,</a:t>
            </a:r>
            <a:r>
              <a:rPr dirty="0" sz="1800" spc="-4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dirty="0" sz="1800" spc="-5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DM Sans"/>
                <a:cs typeface="DM Sans"/>
              </a:rPr>
              <a:t>RESULTS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5866" y="1606411"/>
            <a:ext cx="4547235" cy="131064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 marR="5080">
              <a:lnSpc>
                <a:spcPts val="4600"/>
              </a:lnSpc>
              <a:spcBef>
                <a:spcPts val="1019"/>
              </a:spcBef>
            </a:pPr>
            <a:r>
              <a:rPr dirty="0" sz="4600">
                <a:solidFill>
                  <a:srgbClr val="04191A"/>
                </a:solidFill>
                <a:latin typeface="DM Sans"/>
                <a:cs typeface="DM Sans"/>
              </a:rPr>
              <a:t>Outcome</a:t>
            </a:r>
            <a:r>
              <a:rPr dirty="0" sz="4600" spc="-35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4600">
                <a:solidFill>
                  <a:srgbClr val="04191A"/>
                </a:solidFill>
                <a:latin typeface="DM Sans"/>
                <a:cs typeface="DM Sans"/>
              </a:rPr>
              <a:t>&amp;</a:t>
            </a:r>
            <a:r>
              <a:rPr dirty="0" sz="4600" spc="-3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dirty="0" sz="4600" spc="-40">
                <a:solidFill>
                  <a:srgbClr val="04191A"/>
                </a:solidFill>
                <a:latin typeface="DM Sans"/>
                <a:cs typeface="DM Sans"/>
              </a:rPr>
              <a:t>Next </a:t>
            </a:r>
            <a:r>
              <a:rPr dirty="0" sz="4600" spc="-10">
                <a:solidFill>
                  <a:srgbClr val="04191A"/>
                </a:solidFill>
                <a:latin typeface="DM Sans"/>
                <a:cs typeface="DM Sans"/>
              </a:rPr>
              <a:t>Steps</a:t>
            </a:r>
            <a:endParaRPr sz="46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2026-07-09T00:43:02Z</dcterms:created>
  <dcterms:modified xsi:type="dcterms:W3CDTF">2026-07-09T00:43:02Z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2026-07-09T00:00:00Z</vt:filetime>
  </property>
  <property fmtid="{D5CDD505-2E9C-101B-9397-08002B2CF9AE}" pid="4" name="CreationClient">
    <vt:lpwstr>outline-to-presentation</vt:lpwstr>
  </property>
  <property fmtid="{D5CDD505-2E9C-101B-9397-08002B2CF9AE}" pid="5" name="Creator">
    <vt:lpwstr>Adobe Express</vt:lpwstr>
  </property>
  <property fmtid="{D5CDD505-2E9C-101B-9397-08002B2CF9AE}" pid="6" name="LastSaved">
    <vt:filetime>2026-07-09T00:00:00Z</vt:filetime>
  </property>
  <property fmtid="{D5CDD505-2E9C-101B-9397-08002B2CF9AE}" pid="7" name="Producer">
    <vt:lpwstr>Adobe Express</vt:lpwstr>
  </property>
</Properties>
</file>