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4" r:id="rId16"/>
    <p:sldId id="27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725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 review of our EEG-BCI project, but with something extra: I re-ran the real training myself, so the results here are verified, and I'll be honest about where the reports run ahead of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shape of the talk — from the human problem, through how the system works, to whether it delivers and how we'd improve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stakes are personal. Cognition intact, body unable to follow. A BCI restores the link — and our whole design is about making that link affordable and deployable.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objectives, four numbers to hit. Each KPI isn't arbitrary — they trace back to benchmarks in Lotte 2018, Blankertz 2007 and Abiri 2019.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BCI is a translator from intention to command. We use non-invasive EEG — noisier than implants, but safe, affordable and the standard for assistive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Motor imagery gives us repeatable ERD/ERS signatures in alpha and beta. That 8–30 Hz band is the target for the whole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anchor papers. The point isn't the citations — it's that every one maps to a decision we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nets edge out on raw accuracy, but they need data and GPUs we don't have. For this scope, SVM is simply the smarter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recurring gaps, five deliberate responses. This mapping is the backbone of our justification.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architecture. A heads-up for later: in the final code the feature path is CSP only — the ICA and PSD stages are described but not wired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strong, standard benchmark. But be clear-eyed: only subject A01 is used in the code, so results are single-subject.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honesty slide. The documented pipeline is rich; the executed one is band-pass plus epoching. Worth being upfront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SVM in a leakage-safe pipeline, plus a confidence gate and cooldown so a shaky read never jerks the 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genuinely working ROS 2 / MoveIt 2 / Gazebo stack driving a UR5e. Note the sim platform migrated from PyBullet in the early phase to Gazebo in the final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credit side: strong scholarship, a verified result, a working robotics integration, and good hygiene and safety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Selected references; the full list is in the bibliography report. Reproduction used MNE-Python and scikit-learn.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470916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12080" y="1051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ROBOTICS  ·  CASE STUDY  ·  TH DEGGENDORF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212080" y="141732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EEG-Based Brain–Computer Interface for Assistive Robotic Arm Control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0368" y="333756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non-invasive system that turns imagined movement into real robot motion — decoding motor-imagery EEG with CSP + SVM and driving a UR5e manipulator in ROS 2 / Gazebo.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12080" y="4343400"/>
            <a:ext cx="6355080" cy="868680"/>
          </a:xfrm>
          <a:prstGeom prst="roundRect">
            <a:avLst>
              <a:gd name="adj" fmla="val 1052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0" y="4480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r>
              <a:rPr lang="en-US" sz="13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Prajwal Dikonda · Nishant Shetty · Papiha Dhavan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4800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</a:t>
            </a:r>
            <a:r>
              <a:rPr lang="en-US" sz="13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Dr.-Ing. Hamidreza Heidari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0368" y="544068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review — with independently reproduced results and an honest critique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we'll walk through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70078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74520" y="172821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why it matters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874520" y="21214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helps, and the goals we set ourselves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56832" y="1700784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635240" y="172821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brain talks to a machine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635240" y="21214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BCIs, motor imagery, and the EEG rhythms we ride 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779776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874520" y="29535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taught us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874520" y="33467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papers, and the five gaps that shaped our design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779776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56832" y="29260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635240" y="295351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end to end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35240" y="33467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dataset, signal processing, features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05072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415137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874520" y="41788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&amp; moving the arm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874520" y="45720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classification, ROS 2, MoveIt 2 and Gazebo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4005072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56832" y="4151376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635240" y="4178808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work?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635240" y="45720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accuracy and an honest KPI scorecard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230368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537667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07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874520" y="54041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falls short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874520" y="579729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Doc-vs-code gaps, data leakage, unmeasured latency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0" y="5230368"/>
            <a:ext cx="5440680" cy="1024128"/>
          </a:xfrm>
          <a:prstGeom prst="roundRect">
            <a:avLst>
              <a:gd name="adj" fmla="val 8929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656832" y="537667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08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7635240" y="5404104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take it further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635240" y="579729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fixes and a research roadmap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01000" y="0"/>
            <a:ext cx="4190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project matters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58368" y="13258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stroke alone changes millions of lives — and the mind is usually still fully there.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6903720" cy="841248"/>
          </a:xfrm>
          <a:prstGeom prst="roundRect">
            <a:avLst>
              <a:gd name="adj" fmla="val 1087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06654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15M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697480" y="2066544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strokes worldwide, every single year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2980944"/>
            <a:ext cx="6903720" cy="841248"/>
          </a:xfrm>
          <a:prstGeom prst="roundRect">
            <a:avLst>
              <a:gd name="adj" fmla="val 1087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303580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~5M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697480" y="3035808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left with permanent disability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950208"/>
            <a:ext cx="6903720" cy="841248"/>
          </a:xfrm>
          <a:prstGeom prst="roundRect">
            <a:avLst>
              <a:gd name="adj" fmla="val 1087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40050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697480" y="400507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keep their cognition — the intent is intact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58368" y="507492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heart of it: </a:t>
            </a:r>
            <a:r>
              <a:rPr lang="en-US" sz="13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can know exactly what they want to do — reach for a glass, press a button — and simply have no muscular pathway left to do it. A </a:t>
            </a: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Brain–Computer Interface</a:t>
            </a:r>
            <a:r>
              <a:rPr lang="en-US" sz="13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listens to the brain directly and hands that intention to a robot arm, giving back a slice of everyday independence. The catch we set out to solve: most systems that do this need costly lab hardware, long calibration, and heavy compute.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set out to achieve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2416" y="1874520"/>
            <a:ext cx="5239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motor-imagery decoding pipeline that's genuinely modular — every stage swappable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2660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2416" y="2660904"/>
            <a:ext cx="5239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methods that are light enough to run in real time on an ordinary laptop, no GPU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2416" y="3447288"/>
            <a:ext cx="5239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whole thing in simulation first, before anything touches real hardware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42336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42416" y="4233672"/>
            <a:ext cx="52395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decoded thoughts into 4–5 practical arm commands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5020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42416" y="5020056"/>
            <a:ext cx="52395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every single design choice to something in the literature, not a hunch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know it worked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20840" y="1874520"/>
            <a:ext cx="4800600" cy="932688"/>
          </a:xfrm>
          <a:prstGeom prst="roundRect">
            <a:avLst>
              <a:gd name="adj" fmla="val 9804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1947672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≥ 75%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732520" y="1947672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
</a:t>
            </a: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should clearly beat guessing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916936"/>
            <a:ext cx="4800600" cy="932688"/>
          </a:xfrm>
          <a:prstGeom prst="roundRect">
            <a:avLst>
              <a:gd name="adj" fmla="val 9804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2990088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≤ 500 ms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32520" y="2990088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
</a:t>
            </a: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to feel connected to the arm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20840" y="3959352"/>
            <a:ext cx="4800600" cy="932688"/>
          </a:xfrm>
          <a:prstGeom prst="roundRect">
            <a:avLst>
              <a:gd name="adj" fmla="val 9804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9440" y="4032504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≥ 80%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732520" y="4032504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success rate
</a:t>
            </a: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land reliably, not occasionally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5001768"/>
            <a:ext cx="4800600" cy="932688"/>
          </a:xfrm>
          <a:prstGeom prst="roundRect">
            <a:avLst>
              <a:gd name="adj" fmla="val 9804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5074920"/>
            <a:ext cx="17830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4–5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732520" y="5074920"/>
            <a:ext cx="26517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arm movements
</a:t>
            </a:r>
            <a:r>
              <a:rPr lang="en-US" sz="10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vocabulary to be useful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 brain talks to a machine</a:t>
            </a:r>
            <a:endParaRPr lang="en-US" sz="3300" dirty="0"/>
          </a:p>
        </p:txBody>
      </p:sp>
      <p:pic>
        <p:nvPicPr>
          <p:cNvPr id="3" name="Image 0" descr="assets/image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17320"/>
            <a:ext cx="5257800" cy="29809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72200" y="146304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BCI actually is.  </a:t>
            </a:r>
            <a:r>
              <a:rPr lang="en-US" sz="13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translator. It reads the brain's electrical activity, works out what the person intends, and passes that on as a command — no nerves or muscles in the loop at all.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172200" y="2880360"/>
            <a:ext cx="5349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read from the scalp.  </a:t>
            </a:r>
            <a:r>
              <a:rPr lang="en-US" sz="13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tap the brain three ways — and it's a trade-off between signal quality and how invasive you're willing to be.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45262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51297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Electrodes implanted in cortex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5550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Sharpest signal — but surgery, and real risk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07992" y="45262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82312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Semi-invasive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782312" y="51297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on the brain's surface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82312" y="5550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signal, still needs an operation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375904" y="4526280"/>
            <a:ext cx="3611880" cy="1600200"/>
          </a:xfrm>
          <a:prstGeom prst="roundRect">
            <a:avLst>
              <a:gd name="adj" fmla="val 5714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75904" y="4636008"/>
            <a:ext cx="64008" cy="1380744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16" name="Text 13"/>
          <p:cNvSpPr/>
          <p:nvPr/>
        </p:nvSpPr>
        <p:spPr>
          <a:xfrm>
            <a:off x="8650224" y="4709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— EEG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8650224" y="5129784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sit on the scalp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50224" y="555040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cheap, portable. Our choice.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trick: imagined movement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371600"/>
            <a:ext cx="5623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the neat part. </a:t>
            </a:r>
            <a:r>
              <a:rPr lang="en-US" sz="13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move at all. Just vividly imagining moving your left hand lights up the sensorimotor cortex in a specific, repeatable way — the brain rehearses the action even when the muscles stay still.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42416" y="2788920"/>
            <a:ext cx="52395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</a:t>
            </a: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during the imagined move, rhythmic power drops.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3355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42416" y="3355848"/>
            <a:ext cx="52395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</a:t>
            </a: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once you stop, it rebounds back up.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" y="3922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42416" y="3922776"/>
            <a:ext cx="52395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swings live in the alpha &amp; beta bands — and they're different enough between actions to tell apart.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5623560" cy="1463040"/>
          </a:xfrm>
          <a:prstGeom prst="roundRect">
            <a:avLst>
              <a:gd name="adj" fmla="val 625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828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cortex does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51389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LEFT hand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46120" y="51389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ERD over the RIGHT cortex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4772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RIGHT hand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547725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ERD over the LEFT cortex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8155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feet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46120" y="58155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desynchronisation at the midline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37960" y="1371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EEG rhythms — and the two that matter to us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828800"/>
          <a:ext cx="4983480" cy="31821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reflects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0.5–4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sleep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Drowsiness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8–13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Relaxed — carries MI (ERD)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13–30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focus — carries MI (ERS)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&gt;30 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High-level processing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537960" y="525780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— filtering, features, the classifier — is tuned to the 8–30 Hz window where motor imagery lives.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literature taught us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20 peer-reviewed works (2000–2025). Six of them did the most to shape our thinking.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09397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00200" y="211226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Wolpaw et al. (2002)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24231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founding proof that EEG can drive devices in real time.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600200" y="284378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 motor imagery is a solid basis to build 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56832" y="2093976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60920" y="2112264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Pfurtscheller &amp; da Silva (1999)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0920" y="2423160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down the ERD/ERS neurophysiology.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360920" y="2843784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Tells us which bands to trust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355848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6112" y="348386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600200" y="350215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Ramoser et al. (2000)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81304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CSP spatial filtering.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600200" y="4233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Became our main feature method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3355848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56832" y="348386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60920" y="350215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 et al. (2018)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3813048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10-year review: SVM shines on small datasets.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360920" y="42336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Why we chose SVM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745736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8737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600200" y="48920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 et al. (2019)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00200" y="52029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powerful — but data- and compute-hungry.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600200" y="56235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Why we didn't go deep (yet)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4745736"/>
            <a:ext cx="5440680" cy="1207008"/>
          </a:xfrm>
          <a:prstGeom prst="roundRect">
            <a:avLst>
              <a:gd name="adj" fmla="val 757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656832" y="48737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66A8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360920" y="489204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Blankertz et al. (2007)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60920" y="5202936"/>
            <a:ext cx="4251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short epochs are enough to classify.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360920" y="562356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Makes the 500 ms goal realistic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Choosing the classifier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the field honestly — accuracy is only half the story when you need real-time control.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7086600" cy="384048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 kernel)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75–85%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F6D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70–78%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80–90%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 / LSTM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78–88%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Riemannian geometry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80–87%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965960"/>
            <a:ext cx="3520440" cy="3611880"/>
          </a:xfrm>
          <a:prstGeom prst="roundRect">
            <a:avLst>
              <a:gd name="adj" fmla="val 2597"/>
            </a:avLst>
          </a:prstGeom>
          <a:solidFill>
            <a:srgbClr val="12182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7532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call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75320" y="26974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with an RBF kernel wins on </a:t>
            </a:r>
            <a:r>
              <a:rPr lang="en-US" sz="13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fit, not just score.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7532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50" dirty="0"/>
          </a:p>
        </p:txBody>
      </p:sp>
      <p:sp>
        <p:nvSpPr>
          <p:cNvPr id="4" name="Text 6"/>
          <p:cNvSpPr/>
          <p:nvPr/>
        </p:nvSpPr>
        <p:spPr>
          <a:xfrm>
            <a:off x="8659368" y="3291840"/>
            <a:ext cx="27249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the small datasets EEG actually gives you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7532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59368" y="3840480"/>
            <a:ext cx="27249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real-time control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27532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59368" y="4389120"/>
            <a:ext cx="272491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— runs on a normal laptop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275320" y="4937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59368" y="4937760"/>
            <a:ext cx="272491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parked for later: too hungry for now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five gaps we tried to close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field, the same shortcomings kept coming up. Each one pointed straight at a design decision.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130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74520" y="21031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leans on expensive lab hardware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0" y="2121408"/>
            <a:ext cx="64008" cy="530352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0" y="21031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use free, public datasets instead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29992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297180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validation is often skipped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288036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0" y="2990088"/>
            <a:ext cx="64008" cy="530352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15" name="Text 13"/>
          <p:cNvSpPr/>
          <p:nvPr/>
        </p:nvSpPr>
        <p:spPr>
          <a:xfrm>
            <a:off x="7818120" y="297180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validate the whole thing in sim, documented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8679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384048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are welded together, hard to change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374904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3858768"/>
            <a:ext cx="64008" cy="530352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21" name="Text 19"/>
          <p:cNvSpPr/>
          <p:nvPr/>
        </p:nvSpPr>
        <p:spPr>
          <a:xfrm>
            <a:off x="7818120" y="384048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built independent, swappable ROS 2 modules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4736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47091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is rarely actually reported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89520" y="461772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4727448"/>
            <a:ext cx="64008" cy="530352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27" name="Text 25"/>
          <p:cNvSpPr/>
          <p:nvPr/>
        </p:nvSpPr>
        <p:spPr>
          <a:xfrm>
            <a:off x="7818120" y="47091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set out to measure it against 500 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486400"/>
            <a:ext cx="6720840" cy="749808"/>
          </a:xfrm>
          <a:prstGeom prst="roundRect">
            <a:avLst>
              <a:gd name="adj" fmla="val 12195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6112" y="5605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557784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demos manage only 2–3 commands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89520" y="5486400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89520" y="5596128"/>
            <a:ext cx="64008" cy="530352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33" name="Text 31"/>
          <p:cNvSpPr/>
          <p:nvPr/>
        </p:nvSpPr>
        <p:spPr>
          <a:xfrm>
            <a:off x="7818120" y="557784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 aim for 4–5 useful directions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system, end to end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E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 →  filtering  →  CSP  →  SVM  →  ROS 2 / MoveIt 2  →  Gazebo (UR5e).  Five stages, each one testable on its 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1764792" cy="2880360"/>
          </a:xfrm>
          <a:prstGeom prst="roundRect">
            <a:avLst>
              <a:gd name="adj" fmla="val 5181"/>
            </a:avLst>
          </a:prstGeom>
          <a:solidFill>
            <a:srgbClr val="1E2740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" y="2404872"/>
            <a:ext cx="603504" cy="603504"/>
          </a:xfrm>
          <a:prstGeom prst="ellipse">
            <a:avLst/>
          </a:prstGeom>
          <a:solidFill>
            <a:srgbClr val="66A8EE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" y="24048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315468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input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94944" y="3630168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C3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BCI IV-2a recording — 22 channels at 250 Hz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25328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59736" y="2148840"/>
            <a:ext cx="1764792" cy="2880360"/>
          </a:xfrm>
          <a:prstGeom prst="roundRect">
            <a:avLst>
              <a:gd name="adj" fmla="val 5181"/>
            </a:avLst>
          </a:prstGeom>
          <a:solidFill>
            <a:srgbClr val="1E2740"/>
          </a:solidFill>
          <a:ln/>
        </p:spPr>
      </p:sp>
      <p:sp>
        <p:nvSpPr>
          <p:cNvPr id="11" name="Shape 9"/>
          <p:cNvSpPr/>
          <p:nvPr/>
        </p:nvSpPr>
        <p:spPr>
          <a:xfrm>
            <a:off x="3040380" y="2404872"/>
            <a:ext cx="603504" cy="603504"/>
          </a:xfrm>
          <a:prstGeom prst="ellipse">
            <a:avLst/>
          </a:prstGeom>
          <a:solidFill>
            <a:srgbClr val="66A8EE"/>
          </a:solidFill>
          <a:ln/>
        </p:spPr>
      </p:sp>
      <p:sp>
        <p:nvSpPr>
          <p:cNvPr id="12" name="Text 10"/>
          <p:cNvSpPr/>
          <p:nvPr/>
        </p:nvSpPr>
        <p:spPr>
          <a:xfrm>
            <a:off x="3040380" y="24048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51176" y="315468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87752" y="3630168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C3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to 8–30 Hz, then cut into 0–4 s epochs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78808" y="25328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52544" y="2148840"/>
            <a:ext cx="1764792" cy="2880360"/>
          </a:xfrm>
          <a:prstGeom prst="roundRect">
            <a:avLst>
              <a:gd name="adj" fmla="val 5181"/>
            </a:avLst>
          </a:prstGeom>
          <a:solidFill>
            <a:srgbClr val="1E2740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3188" y="2404872"/>
            <a:ext cx="603504" cy="603504"/>
          </a:xfrm>
          <a:prstGeom prst="ellipse">
            <a:avLst/>
          </a:prstGeom>
          <a:solidFill>
            <a:srgbClr val="66A8EE"/>
          </a:solidFill>
          <a:ln/>
        </p:spPr>
      </p:sp>
      <p:sp>
        <p:nvSpPr>
          <p:cNvPr id="18" name="Text 16"/>
          <p:cNvSpPr/>
          <p:nvPr/>
        </p:nvSpPr>
        <p:spPr>
          <a:xfrm>
            <a:off x="4933188" y="24048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443984" y="315468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480560" y="3630168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C3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finds the spatial patterns that separate classes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71616" y="25328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45352" y="2148840"/>
            <a:ext cx="1764792" cy="2880360"/>
          </a:xfrm>
          <a:prstGeom prst="roundRect">
            <a:avLst>
              <a:gd name="adj" fmla="val 5181"/>
            </a:avLst>
          </a:prstGeom>
          <a:solidFill>
            <a:srgbClr val="1E2740"/>
          </a:solidFill>
          <a:ln/>
        </p:spPr>
      </p:sp>
      <p:sp>
        <p:nvSpPr>
          <p:cNvPr id="23" name="Shape 21"/>
          <p:cNvSpPr/>
          <p:nvPr/>
        </p:nvSpPr>
        <p:spPr>
          <a:xfrm>
            <a:off x="6825996" y="2404872"/>
            <a:ext cx="603504" cy="603504"/>
          </a:xfrm>
          <a:prstGeom prst="ellipse">
            <a:avLst/>
          </a:prstGeom>
          <a:solidFill>
            <a:srgbClr val="66A8EE"/>
          </a:solidFill>
          <a:ln/>
        </p:spPr>
      </p:sp>
      <p:sp>
        <p:nvSpPr>
          <p:cNvPr id="24" name="Text 22"/>
          <p:cNvSpPr/>
          <p:nvPr/>
        </p:nvSpPr>
        <p:spPr>
          <a:xfrm>
            <a:off x="6825996" y="24048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336792" y="315468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73368" y="3630168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C3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decides — and only speaks up when it's confident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64424" y="25328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138160" y="2148840"/>
            <a:ext cx="1764792" cy="2880360"/>
          </a:xfrm>
          <a:prstGeom prst="roundRect">
            <a:avLst>
              <a:gd name="adj" fmla="val 5181"/>
            </a:avLst>
          </a:prstGeom>
          <a:solidFill>
            <a:srgbClr val="1E2740"/>
          </a:solidFill>
          <a:ln/>
        </p:spPr>
      </p:sp>
      <p:sp>
        <p:nvSpPr>
          <p:cNvPr id="29" name="Shape 27"/>
          <p:cNvSpPr/>
          <p:nvPr/>
        </p:nvSpPr>
        <p:spPr>
          <a:xfrm>
            <a:off x="8718804" y="2404872"/>
            <a:ext cx="603504" cy="603504"/>
          </a:xfrm>
          <a:prstGeom prst="ellipse">
            <a:avLst/>
          </a:prstGeom>
          <a:solidFill>
            <a:srgbClr val="3E63A8"/>
          </a:solidFill>
          <a:ln/>
        </p:spPr>
      </p:sp>
      <p:sp>
        <p:nvSpPr>
          <p:cNvPr id="30" name="Text 28"/>
          <p:cNvSpPr/>
          <p:nvPr/>
        </p:nvSpPr>
        <p:spPr>
          <a:xfrm>
            <a:off x="8718804" y="24048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8229600" y="315468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66176" y="3630168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C3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becomes a robot pose, sent over ROS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57232" y="25328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030968" y="2148840"/>
            <a:ext cx="1764792" cy="2880360"/>
          </a:xfrm>
          <a:prstGeom prst="roundRect">
            <a:avLst>
              <a:gd name="adj" fmla="val 5181"/>
            </a:avLst>
          </a:prstGeom>
          <a:solidFill>
            <a:srgbClr val="1E274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11612" y="2404872"/>
            <a:ext cx="603504" cy="603504"/>
          </a:xfrm>
          <a:prstGeom prst="ellipse">
            <a:avLst/>
          </a:prstGeom>
          <a:solidFill>
            <a:srgbClr val="3E63A8"/>
          </a:solidFill>
          <a:ln/>
        </p:spPr>
      </p:sp>
      <p:sp>
        <p:nvSpPr>
          <p:cNvPr id="36" name="Text 34"/>
          <p:cNvSpPr/>
          <p:nvPr/>
        </p:nvSpPr>
        <p:spPr>
          <a:xfrm>
            <a:off x="10611612" y="2404872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122408" y="315468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0158984" y="3630168"/>
            <a:ext cx="1508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1000" dirty="0">
                <a:solidFill>
                  <a:srgbClr val="C3C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plans it; the UR5e executes in Gazebo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stages are independent, any one can be upgraded without rebuilding the rest — that's the modularity gap answered directly.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data we learned from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 Competition IV — Dataset 2a. The most-used motor-imagery benchmark there is.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79192" cy="1463040"/>
          </a:xfrm>
          <a:prstGeom prst="roundRect">
            <a:avLst>
              <a:gd name="adj" fmla="val 625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67128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52344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hand · right hand · feet · tongue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02152" y="1965960"/>
            <a:ext cx="2679192" cy="1463040"/>
          </a:xfrm>
          <a:prstGeom prst="roundRect">
            <a:avLst>
              <a:gd name="adj" fmla="val 625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93592" y="2167128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93592" y="2752344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85032" y="301752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EEG, plus 3 EOG for artefacts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64224" y="1965960"/>
            <a:ext cx="2679192" cy="1463040"/>
          </a:xfrm>
          <a:prstGeom prst="roundRect">
            <a:avLst>
              <a:gd name="adj" fmla="val 625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55664" y="2167128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250 Hz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55664" y="2752344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47104" y="301752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enough for MI rhythms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226296" y="1965960"/>
            <a:ext cx="2679192" cy="1463040"/>
          </a:xfrm>
          <a:prstGeom prst="roundRect">
            <a:avLst>
              <a:gd name="adj" fmla="val 6250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17736" y="2167128"/>
            <a:ext cx="24963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2F6DB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317736" y="2752344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09176" y="301752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 trials each per session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6675120" cy="2468880"/>
          </a:xfrm>
          <a:prstGeom prst="roundRect">
            <a:avLst>
              <a:gd name="adj" fmla="val 3704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96112" y="3886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4315968"/>
            <a:ext cx="587959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field's common yardstick — so our numbers can be compared to everyone else's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" y="4864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98448" y="4864608"/>
            <a:ext cx="587959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trial is cleanly labelled, which makes supervised training and cross-validation straightforward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4400" y="5413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98448" y="5413248"/>
            <a:ext cx="587959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public and standardised — full reproducibility, and it sidesteps the pricey-hardware gap entirely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543800" y="3703320"/>
            <a:ext cx="3977640" cy="2468880"/>
          </a:xfrm>
          <a:prstGeom prst="roundRect">
            <a:avLst>
              <a:gd name="adj" fmla="val 3704"/>
            </a:avLst>
          </a:prstGeom>
          <a:solidFill>
            <a:srgbClr val="FBF3E6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43800" y="3813048"/>
            <a:ext cx="64008" cy="2249424"/>
          </a:xfrm>
          <a:prstGeom prst="rect">
            <a:avLst/>
          </a:prstGeom>
          <a:solidFill>
            <a:srgbClr val="C8862B"/>
          </a:solidFill>
          <a:ln/>
        </p:spPr>
      </p:sp>
      <p:sp>
        <p:nvSpPr>
          <p:cNvPr id="30" name="Text 28"/>
          <p:cNvSpPr/>
          <p:nvPr/>
        </p:nvSpPr>
        <p:spPr>
          <a:xfrm>
            <a:off x="781812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honest caveat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18120" y="4315968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code actually trains and tests on just one subject (A01). Cross-subject generalisation is described in the report, but it isn't implemented — so the numbers are single-person.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Cleaning the signal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EEG is tiny (10–100 µV) and swamped by blinks, muscle twitches and mains hum. Here's the gap between the plan and the code.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report describes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57860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Butterworth band-pass, 8–30 Hz  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keeps the MI rhythms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3163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3136392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 notch filter  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kills mains hum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37216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69417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artefact removal  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strips out eye &amp; muscle noise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4279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425196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 µV epoch rejection  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drops the ugliest segments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48371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80974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segmentation, 2–4 s  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locked to the imagery cue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96112" y="5394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536752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normalisation  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evens out drift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FBF3E6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2075688"/>
            <a:ext cx="64008" cy="3941064"/>
          </a:xfrm>
          <a:prstGeom prst="rect">
            <a:avLst/>
          </a:prstGeom>
          <a:solidFill>
            <a:srgbClr val="C886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2148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code actually runs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2578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8–30 Hz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done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28232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30358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Epoching 0–4 s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done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28232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34930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filter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not in the run path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28232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39502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removal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not in the run path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28232" y="4434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44074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 µV rejection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not in the run path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28232" y="4892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5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4864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not in the run path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28232" y="50749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in practice, only the band-pass and epoching happen. The richer cleaning is written up but never actually wired in — the first of several gaps we'll come back to.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Making the decision — safely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SVM decides which movement was imagined. But a good BCI also knows when to stay quiet.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2176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SVM, in plain terms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265176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draws the widest possible boundary between classes, and the RBF kernel lets that boundary curve — so it can separate patterns that aren't neatly linear.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" y="3657600"/>
            <a:ext cx="4892040" cy="548640"/>
          </a:xfrm>
          <a:prstGeom prst="roundRect">
            <a:avLst>
              <a:gd name="adj" fmla="val 10000"/>
            </a:avLst>
          </a:prstGeom>
          <a:solidFill>
            <a:srgbClr val="E7F0FB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6576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F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K(xᵢ,xⱼ) = exp(−γ ‖xᵢ − xⱼ‖²)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4389120"/>
            <a:ext cx="450799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classes handled one-vs-rest, with probability estimates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6112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80160" y="4892040"/>
            <a:ext cx="4507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and SVM live in one scikit-learn pipeline — so no test data ever leaks into training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96112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80160" y="5394960"/>
            <a:ext cx="450799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on little data, GPU-free, quick to answer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9659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2182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2176272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safety catch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65176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guess deserves to move a robot. We only act on confident ones.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28232" y="3291840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1E2740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32918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6A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P(class) ≥ 0.70  →  move
</a:t>
            </a:r>
            <a:r>
              <a:rPr lang="en-US" sz="1300" dirty="0">
                <a:solidFill>
                  <a:srgbClr val="DCE3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 →  hold still (treat as Rest)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32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4297680"/>
            <a:ext cx="4507992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epochs get ignored, not acted 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28232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4846320"/>
            <a:ext cx="450799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is 0.70 in the final node (the reports say 0.65 — a small inconsistency)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28232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6A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2280" y="5394960"/>
            <a:ext cx="450799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DC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2.5 s cooldown and duplicate-command suppression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command to motion</a:t>
            </a:r>
            <a:endParaRPr lang="en-US" sz="3300" dirty="0"/>
          </a:p>
        </p:txBody>
      </p:sp>
      <p:pic>
        <p:nvPicPr>
          <p:cNvPr id="3" name="Image 0" descr="assets/image2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35240" y="1371600"/>
            <a:ext cx="3931920" cy="22311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37160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 ROS 2 programs pass the baton: one decodes, one translates to a pose, one makes the arm move.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40080" y="2103120"/>
            <a:ext cx="6766560" cy="621792"/>
          </a:xfrm>
          <a:prstGeom prst="roundRect">
            <a:avLst>
              <a:gd name="adj" fmla="val 1470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41248" y="2240280"/>
            <a:ext cx="347472" cy="347472"/>
          </a:xfrm>
          <a:prstGeom prst="ellipse">
            <a:avLst/>
          </a:prstGeom>
          <a:solidFill>
            <a:srgbClr val="66A8EE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" y="2240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71600" y="2157984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Predictor   </a:t>
            </a:r>
            <a:r>
              <a:rPr lang="en-US" sz="1050" dirty="0">
                <a:solidFill>
                  <a:srgbClr val="6B6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 the model, publishes /eeg_command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816352"/>
            <a:ext cx="6766560" cy="621792"/>
          </a:xfrm>
          <a:prstGeom prst="roundRect">
            <a:avLst>
              <a:gd name="adj" fmla="val 1470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41248" y="2953512"/>
            <a:ext cx="347472" cy="347472"/>
          </a:xfrm>
          <a:prstGeom prst="ellipse">
            <a:avLst/>
          </a:prstGeom>
          <a:solidFill>
            <a:srgbClr val="66A8EE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71600" y="2871216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Controller   </a:t>
            </a:r>
            <a:r>
              <a:rPr lang="en-US" sz="1050" dirty="0">
                <a:solidFill>
                  <a:srgbClr val="6B6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turns a command into a UR5e joint pose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529584"/>
            <a:ext cx="6766560" cy="621792"/>
          </a:xfrm>
          <a:prstGeom prst="roundRect">
            <a:avLst>
              <a:gd name="adj" fmla="val 14706"/>
            </a:avLst>
          </a:prstGeom>
          <a:solidFill>
            <a:srgbClr val="ECECF2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" y="3666744"/>
            <a:ext cx="347472" cy="347472"/>
          </a:xfrm>
          <a:prstGeom prst="ellipse">
            <a:avLst/>
          </a:prstGeom>
          <a:solidFill>
            <a:srgbClr val="66A8EE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" y="36667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71600" y="3584448"/>
            <a:ext cx="5852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+ Gazebo   </a:t>
            </a:r>
            <a:r>
              <a:rPr lang="en-US" sz="1050" dirty="0">
                <a:solidFill>
                  <a:srgbClr val="6B6B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plans the path and executes it safely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4370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imagined action does</a:t>
            </a:r>
            <a:endParaRPr lang="en-US" sz="13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18304"/>
          <a:ext cx="6766560" cy="1691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Imagined (event)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Command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UR5e…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hand (769)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F6D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LEFT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rotates its base left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hand (770)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F6D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RIGHT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rotates its base right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Feet (771)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F6D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FORWARD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reaches forward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Tongue (772)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F6DB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HOME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39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to its home 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635240" y="379476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635240" y="3904488"/>
            <a:ext cx="64008" cy="2157984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21" name="Text 17"/>
          <p:cNvSpPr/>
          <p:nvPr/>
        </p:nvSpPr>
        <p:spPr>
          <a:xfrm>
            <a:off x="786384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UR5e + Gazebo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863840" y="438912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6-DOF arm with native ROS 2 and MoveIt 2 support, in a physics simulator with proper collision checking. Best of all: a misread command in sim can't hurt anyone.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plenty that's genuinely strong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the caveats, this project earns real credit where it counts.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40680" cy="1243584"/>
          </a:xfrm>
          <a:prstGeom prst="roundRect">
            <a:avLst>
              <a:gd name="adj" fmla="val 7353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75688"/>
            <a:ext cx="64008" cy="102412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11226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Grounded in the literature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2496312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correctly-cited works, and every design choice traces to a source or a gap.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1965960"/>
            <a:ext cx="5440680" cy="1243584"/>
          </a:xfrm>
          <a:prstGeom prst="roundRect">
            <a:avLst>
              <a:gd name="adj" fmla="val 7353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75688"/>
            <a:ext cx="64008" cy="102412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10" name="Text 8"/>
          <p:cNvSpPr/>
          <p:nvPr/>
        </p:nvSpPr>
        <p:spPr>
          <a:xfrm>
            <a:off x="6693408" y="211226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The core result is verified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93408" y="2496312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+ SVM really does hit ~75% cross-validated on a standard benchmark.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5440680" cy="1243584"/>
          </a:xfrm>
          <a:prstGeom prst="roundRect">
            <a:avLst>
              <a:gd name="adj" fmla="val 7353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83864"/>
            <a:ext cx="64008" cy="102412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52044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It's a real, working system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3904488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functioning ROS 2 / MoveIt 2 / Gazebo stack driving a UR5e — not just slides.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3374136"/>
            <a:ext cx="5440680" cy="1243584"/>
          </a:xfrm>
          <a:prstGeom prst="roundRect">
            <a:avLst>
              <a:gd name="adj" fmla="val 7353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3483864"/>
            <a:ext cx="64008" cy="102412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18" name="Text 16"/>
          <p:cNvSpPr/>
          <p:nvPr/>
        </p:nvSpPr>
        <p:spPr>
          <a:xfrm>
            <a:off x="6693408" y="352044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ML hygiene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93408" y="3904488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sits inside the scikit-learn pipeline, so there's no train/test leakage.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782312"/>
            <a:ext cx="5440680" cy="1243584"/>
          </a:xfrm>
          <a:prstGeom prst="roundRect">
            <a:avLst>
              <a:gd name="adj" fmla="val 7353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892040"/>
            <a:ext cx="64008" cy="102412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22" name="Text 20"/>
          <p:cNvSpPr/>
          <p:nvPr/>
        </p:nvSpPr>
        <p:spPr>
          <a:xfrm>
            <a:off x="932688" y="492861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Safety was designed in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5312664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gating, a cooldown and duplicate suppression on every command.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782312"/>
            <a:ext cx="5440680" cy="1243584"/>
          </a:xfrm>
          <a:prstGeom prst="roundRect">
            <a:avLst>
              <a:gd name="adj" fmla="val 7353"/>
            </a:avLst>
          </a:prstGeom>
          <a:solidFill>
            <a:srgbClr val="E7F0FB"/>
          </a:solidFill>
          <a:ln/>
          <a:effectLst>
            <a:outerShdw blurRad="114300" dist="38100" dir="5400000" algn="bl" rotWithShape="0">
              <a:srgbClr val="9AA0B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892040"/>
            <a:ext cx="64008" cy="1024128"/>
          </a:xfrm>
          <a:prstGeom prst="rect">
            <a:avLst/>
          </a:prstGeom>
          <a:solidFill>
            <a:srgbClr val="66A8EE"/>
          </a:solidFill>
          <a:ln/>
        </p:spPr>
      </p:sp>
      <p:sp>
        <p:nvSpPr>
          <p:cNvPr id="26" name="Text 24"/>
          <p:cNvSpPr/>
          <p:nvPr/>
        </p:nvSpPr>
        <p:spPr>
          <a:xfrm>
            <a:off x="6693408" y="492861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Simulation-first discipline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93408" y="5312664"/>
            <a:ext cx="48920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validation in sim before hardware — best practice, and zero physical risk.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1B1B2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Selected references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508760"/>
            <a:ext cx="5440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Wolpaw, J. R. et al. (2002). Brain–computer interfaces for communication and control. Clin. Neurophysiol., 113(6).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Pfurtscheller, G. &amp; Lopes da Silva, F. H. (1999). Event-related EEG/MEG synchronization &amp; desynchronization. Clin. Neurophysiol., 110(11).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Ramoser, H. et al. (2000). Optimal spatial filtering of single-trial EEG. IEEE Trans. Rehab. Eng., 8(4).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Lotte, F. et al. (2018). A review of classification algorithms for EEG-based BCIs: a 10-year update. J. Neural Eng., 15(3).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Roy, Y. et al. (2019). Deep learning-based EEG analysis: a systematic review. J. Neural Eng., 16(5).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Blankertz, B. et al. (2007). The non-invasive Berlin Brain–Computer Interface. NeuroImage, 37(2).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309360" y="1508760"/>
            <a:ext cx="5440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Abiri, R. et al. (2019). A comprehensive review of EEG-based BCI paradigms. J. Neural Eng., 16(1).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Padfield, N. et al. (2019). EEG-based BCIs using motor imagery: techniques &amp; challenges. Sensors, 19(6).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Ang, K. K. et al. (2012). Filter Bank CSP on BCI Competition IV Datasets 2a/2b. Front. Neurosci.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Tangermann, M. et al. (2012). Review of the BCI Competition IV. Front. Neurosci., 6, 55.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Welch, P. D. (1967). Use of the FFT for estimation of power spectra. IEEE Trans. Audio Electroacoust., 15(2).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Nicolas-Alonso, L. F. &amp; Gomez-Gil, J. (2012). Brain–computer interfaces, a review. Sensors, 12(2).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20-reference IEEE list is in the project's bibliography report. Results reproduced with MNE-Python + scikit-learn.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9BA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2946</Words>
  <Application>Microsoft Office PowerPoint</Application>
  <PresentationFormat>Widescreen</PresentationFormat>
  <Paragraphs>396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EEG-Based BCI for Assistive Robotic Arm Control</dc:title>
  <dc:subject>PptxGenJS Presentation</dc:subject>
  <dc:creator>Group 8 — MSc Robotics, TH Deggendorf</dc:creator>
  <cp:lastModifiedBy>Nishant Shetty</cp:lastModifiedBy>
  <cp:revision>2</cp:revision>
  <dcterms:created xsi:type="dcterms:W3CDTF">2026-07-02T23:09:24Z</dcterms:created>
  <dcterms:modified xsi:type="dcterms:W3CDTF">2026-07-03T12:52:19Z</dcterms:modified>
</cp:coreProperties>
</file>