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aleway" panose="020F0502020204030204" pitchFamily="2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94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5425" y="607695"/>
            <a:ext cx="7605951" cy="205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EEG-Based Brain–Computer Interface for Assistive Robotic Arm Control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5425" y="2986802"/>
            <a:ext cx="76059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non-invasive BCI system leveraging motor imagery EEG signals to enable real-time control of a robotic arm for individuals with motor impairments.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55425" y="3918466"/>
            <a:ext cx="7605951" cy="2219087"/>
          </a:xfrm>
          <a:prstGeom prst="roundRect">
            <a:avLst>
              <a:gd name="adj" fmla="val 415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82715" y="414575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Members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482715" y="4616648"/>
            <a:ext cx="715137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Prajwal Dikonda - 22516691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82715" y="5090398"/>
            <a:ext cx="715137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Nishant Shetty - 22566540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82715" y="5564148"/>
            <a:ext cx="715137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Papiha Dhavan - 22514341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55425" y="6350317"/>
            <a:ext cx="7605951" cy="1271588"/>
          </a:xfrm>
          <a:prstGeom prst="roundRect">
            <a:avLst>
              <a:gd name="adj" fmla="val 725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2715" y="657760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Course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82715" y="7048500"/>
            <a:ext cx="715137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Master's - Assistive Robotics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59475"/>
            <a:ext cx="7875270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Brain–Computer Interfaces: A Primer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28" y="1554599"/>
            <a:ext cx="8264247" cy="4682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4648" y="241577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 BCI?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64648" y="2864763"/>
            <a:ext cx="4238506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BCI establishes a direct communication channel between the brain and an external device, interpreting neural activity as control commands — no peripheral nerves or muscles are required.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64648" y="4118967"/>
            <a:ext cx="267878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Invasive vs. Non-Invasive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64648" y="4567952"/>
            <a:ext cx="4238506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EEG is chosen for its </a:t>
            </a:r>
            <a:r>
              <a:rPr lang="en-US" sz="14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accessibility and real-world deployability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without requiring surgical intervention.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34628" y="6587371"/>
            <a:ext cx="6402705" cy="1082635"/>
          </a:xfrm>
          <a:prstGeom prst="roundRect">
            <a:avLst>
              <a:gd name="adj" fmla="val 1013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1768" y="6587371"/>
            <a:ext cx="91440" cy="1082635"/>
          </a:xfrm>
          <a:prstGeom prst="roundRect">
            <a:avLst>
              <a:gd name="adj" fmla="val 86279"/>
            </a:avLst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1113830" y="6797993"/>
            <a:ext cx="285904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Invasive (ECoG / Implants)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13830" y="7184708"/>
            <a:ext cx="591288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signal resolution, surgical risk, limited clinical adoption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392829" y="6587371"/>
            <a:ext cx="6402824" cy="1082635"/>
          </a:xfrm>
          <a:prstGeom prst="roundRect">
            <a:avLst>
              <a:gd name="adj" fmla="val 1013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69969" y="6587371"/>
            <a:ext cx="91440" cy="1082635"/>
          </a:xfrm>
          <a:prstGeom prst="roundRect">
            <a:avLst>
              <a:gd name="adj" fmla="val 86279"/>
            </a:avLst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7672030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Non-Invasive (EEG) ✓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672030" y="7184708"/>
            <a:ext cx="591300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Safe, portable, cost-effective, millisecond temporal resolution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393" y="571262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Motor Impairment &amp; the Assistive Gap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3393" y="2204561"/>
            <a:ext cx="37526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15M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807041" y="310705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Annual Strokes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193393" y="3530560"/>
            <a:ext cx="37526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affected globally each year, many with lasting motor disabilities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170795" y="2204561"/>
            <a:ext cx="37526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5.4M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0784443" y="310705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Stroke Survivors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170795" y="3530560"/>
            <a:ext cx="37526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Living with paralysis or significant limb impairment in the U.S. alone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82094" y="4602361"/>
            <a:ext cx="37526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1B+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8795742" y="550485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Disabled Worldwide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182094" y="5928360"/>
            <a:ext cx="37526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with some form of disability, about 10% involving motor function loss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93393" y="6741795"/>
            <a:ext cx="7730014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Conventional assistive devices require residual limb movement, excluding patients with complete upper-limb paralysis.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direct neural interface bypasses the motor pathway entirely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restoring functional independence without physical input.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28518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23737" y="1337072"/>
            <a:ext cx="1824633" cy="300276"/>
          </a:xfrm>
          <a:prstGeom prst="roundRect">
            <a:avLst>
              <a:gd name="adj" fmla="val 19433"/>
            </a:avLst>
          </a:prstGeom>
          <a:solidFill>
            <a:srgbClr val="E1E1E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7917" y="1417796"/>
            <a:ext cx="138827" cy="1388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6157" y="1389102"/>
            <a:ext cx="1408033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PIPELINE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666" y="1786890"/>
            <a:ext cx="11598950" cy="4352449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1288" y="2895537"/>
            <a:ext cx="599131" cy="5991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87499" y="4914236"/>
            <a:ext cx="1749463" cy="67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Robotic Arm Control</a:t>
            </a:r>
            <a:endParaRPr lang="en-US" sz="2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27904" y="2896660"/>
            <a:ext cx="599132" cy="5991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2694" y="4914236"/>
            <a:ext cx="1749464" cy="67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(SVM)</a:t>
            </a:r>
            <a:endParaRPr lang="en-US" sz="2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5082" y="2896660"/>
            <a:ext cx="599132" cy="5991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89873" y="4914236"/>
            <a:ext cx="1749464" cy="67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Extraction</a:t>
            </a:r>
            <a:endParaRPr lang="en-US" sz="2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2261" y="2896660"/>
            <a:ext cx="599132" cy="5991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297051" y="4745730"/>
            <a:ext cx="1749464" cy="101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Signal Preprocessing</a:t>
            </a:r>
            <a:endParaRPr lang="en-US" sz="2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37456" y="2896660"/>
            <a:ext cx="599132" cy="59913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056299" y="4914236"/>
            <a:ext cx="1749464" cy="67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EEG Acquisition</a:t>
            </a:r>
            <a:endParaRPr lang="en-US" sz="2100" dirty="0"/>
          </a:p>
        </p:txBody>
      </p:sp>
      <p:sp>
        <p:nvSpPr>
          <p:cNvPr id="17" name="Text 8"/>
          <p:cNvSpPr/>
          <p:nvPr/>
        </p:nvSpPr>
        <p:spPr>
          <a:xfrm>
            <a:off x="1323737" y="642175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Layer</a:t>
            </a:r>
            <a:endParaRPr lang="en-US" sz="1700" dirty="0"/>
          </a:p>
        </p:txBody>
      </p:sp>
      <p:sp>
        <p:nvSpPr>
          <p:cNvPr id="18" name="Text 9"/>
          <p:cNvSpPr/>
          <p:nvPr/>
        </p:nvSpPr>
        <p:spPr>
          <a:xfrm>
            <a:off x="1323737" y="6825853"/>
            <a:ext cx="577953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16-channel EEG amplifier (OpenBCI / g.tec)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Electrodes at C3, Cz, and C4 (sensorimotor focus)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250 Hz sampling rate, 24-bit resolution</a:t>
            </a:r>
            <a:endParaRPr lang="en-US" sz="1350" dirty="0"/>
          </a:p>
        </p:txBody>
      </p:sp>
      <p:sp>
        <p:nvSpPr>
          <p:cNvPr id="19" name="Text 10"/>
          <p:cNvSpPr/>
          <p:nvPr/>
        </p:nvSpPr>
        <p:spPr>
          <a:xfrm>
            <a:off x="7534513" y="642175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Software Layer</a:t>
            </a:r>
            <a:endParaRPr lang="en-US" sz="1700" dirty="0"/>
          </a:p>
        </p:txBody>
      </p:sp>
      <p:sp>
        <p:nvSpPr>
          <p:cNvPr id="20" name="Text 11"/>
          <p:cNvSpPr/>
          <p:nvPr/>
        </p:nvSpPr>
        <p:spPr>
          <a:xfrm>
            <a:off x="7534513" y="6825853"/>
            <a:ext cx="577953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pipeline: MNE, SciPy, Scikit-learn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 2 for robot command communication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Gazebo / PyBullet simulation environment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2277"/>
            <a:ext cx="126413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Feature Extraction &amp; Classification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8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957513"/>
            <a:ext cx="3008948" cy="3944660"/>
          </a:xfrm>
          <a:prstGeom prst="roundRect">
            <a:avLst>
              <a:gd name="adj" fmla="val 316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191947"/>
            <a:ext cx="25400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CSP — Common Spatial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127421"/>
            <a:ext cx="254007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spatial filters maximising the variance ratio between two classes. Produces discriminative spatial components from multi-channel EEG.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029551" y="2957513"/>
            <a:ext cx="3008948" cy="3944660"/>
          </a:xfrm>
          <a:prstGeom prst="roundRect">
            <a:avLst>
              <a:gd name="adj" fmla="val 316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63985" y="3191947"/>
            <a:ext cx="25400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PSD — Power Spectral Density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63985" y="4127421"/>
            <a:ext cx="254007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Quantifies band power (mu, beta) per channel via Welch's method. Captures ERD/ERS magnitude as a compact feature vector.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348032"/>
            <a:ext cx="40644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SVM over Deep Learning?</a:t>
            </a:r>
            <a:endParaRPr lang="en-US" sz="2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2968823"/>
            <a:ext cx="340162" cy="3401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36637" y="2957513"/>
            <a:ext cx="224349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dataset: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Typical MI sessions yield ~200–400 labelled epochs — insufficient for reliable deep learning generalisation</a:t>
            </a:r>
            <a:endParaRPr lang="en-US" sz="1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8630" y="2968823"/>
            <a:ext cx="340162" cy="3401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600736" y="2957513"/>
            <a:ext cx="22434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Interpretability: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SVM margins and support vectors are mathematically transparent — critical for clinical validation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5962769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6637" y="595145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Latency: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SVM inference is sub-millisecond on a standard CPU, meeting real-time control constraints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725709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Imagery: Thinking as Control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79183" y="276367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Neuroscience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079183" y="3190042"/>
            <a:ext cx="6015395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subject imagines moving their left or right hand, event-related desynchronization (ERD) and synchronization (ERS) occur in the </a:t>
            </a: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contralateral sensorimotor cortex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—detectable as power changes in the mu (8–12 Hz) and beta (13–30 Hz) bands.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79183" y="4358759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Crucially, these signals are present </a:t>
            </a: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any physical movement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making motor imagery ideal for users with paralysis.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9183" y="5040273"/>
            <a:ext cx="6015395" cy="1188363"/>
          </a:xfrm>
          <a:prstGeom prst="roundRect">
            <a:avLst>
              <a:gd name="adj" fmla="val 6388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19" y="5298400"/>
            <a:ext cx="225862" cy="1807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6518" y="5229344"/>
            <a:ext cx="524732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 and beta rhythms suppress during imagined movement—this spectral signature is the core discriminative feature used for classification.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205" y="1497449"/>
            <a:ext cx="6015395" cy="601539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205" y="1497449"/>
            <a:ext cx="6015395" cy="6015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376" y="722709"/>
            <a:ext cx="7598688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Signal Processing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9376" y="1644372"/>
            <a:ext cx="7705249" cy="1829991"/>
          </a:xfrm>
          <a:prstGeom prst="roundRect">
            <a:avLst>
              <a:gd name="adj" fmla="val 47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2236" y="1667232"/>
            <a:ext cx="822246" cy="1784271"/>
          </a:xfrm>
          <a:prstGeom prst="roundRect">
            <a:avLst>
              <a:gd name="adj" fmla="val 7164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363" y="2405182"/>
            <a:ext cx="308253" cy="3082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0695" y="1872734"/>
            <a:ext cx="310669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Band-Pass Filter (8–30 Hz)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750695" y="2305526"/>
            <a:ext cx="6445568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Isolates the mu and beta rhythms relevant to motor imagery. A 4th-order Butterworth filter preserves phase integrity while attenuating DC drift and high-frequency muscle artefacts.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19376" y="3660577"/>
            <a:ext cx="7705249" cy="1829991"/>
          </a:xfrm>
          <a:prstGeom prst="roundRect">
            <a:avLst>
              <a:gd name="adj" fmla="val 47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2236" y="3683437"/>
            <a:ext cx="822246" cy="1784271"/>
          </a:xfrm>
          <a:prstGeom prst="roundRect">
            <a:avLst>
              <a:gd name="adj" fmla="val 7164"/>
            </a:avLst>
          </a:prstGeom>
          <a:solidFill>
            <a:srgbClr val="E1E1E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363" y="4421386"/>
            <a:ext cx="308253" cy="3082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50695" y="388893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Notch Filter (50 Hz)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750695" y="4321731"/>
            <a:ext cx="6445568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Suppresses power-line interference, the dominant environmental noise source in laboratory settings. Applied before the band-pass filter to prevent artefacts from aliasing into the signal band.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19376" y="5676781"/>
            <a:ext cx="7705249" cy="1829991"/>
          </a:xfrm>
          <a:prstGeom prst="roundRect">
            <a:avLst>
              <a:gd name="adj" fmla="val 47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2236" y="5699641"/>
            <a:ext cx="822246" cy="1784271"/>
          </a:xfrm>
          <a:prstGeom prst="roundRect">
            <a:avLst>
              <a:gd name="adj" fmla="val 7164"/>
            </a:avLst>
          </a:prstGeom>
          <a:solidFill>
            <a:srgbClr val="E1E1E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363" y="6437590"/>
            <a:ext cx="308253" cy="30825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50695" y="590514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Artefact Rejection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1750695" y="6337935"/>
            <a:ext cx="6445568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Epochs contaminated by eye blinks (&gt;100 µV) or muscle noise are automatically rejected using amplitude thresholding prior to feature extraction.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87229"/>
            <a:ext cx="7355919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Simulation &amp; Implementation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25" y="2645807"/>
            <a:ext cx="6959560" cy="39437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72224" y="1905833"/>
            <a:ext cx="3019068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Simulation Environment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272224" y="2461855"/>
            <a:ext cx="5596652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6-DOF robotic arm model (URDF) is deployed in </a:t>
            </a: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Gazebo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PyBullet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safe, repeatable testing before hardware deployment.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72224" y="371296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 2 Integration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8272224" y="4268986"/>
            <a:ext cx="5596652" cy="11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BCI classifier publishes commands on a ROS 2 topic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MoveIt! translates class labels into joint trajectories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feedback loop confirms task completion state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72224" y="5695593"/>
            <a:ext cx="5596652" cy="1607344"/>
          </a:xfrm>
          <a:prstGeom prst="roundRect">
            <a:avLst>
              <a:gd name="adj" fmla="val 5742"/>
            </a:avLst>
          </a:prstGeom>
          <a:solidFill>
            <a:srgbClr val="D2D2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895" y="6021705"/>
            <a:ext cx="274558" cy="2196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86123" y="5963245"/>
            <a:ext cx="466308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Simulation decouples software validation from hardware availability, significantly accelerating iteration cycles.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548" y="455176"/>
            <a:ext cx="7040880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 &amp; Key Performance Indicators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70548" y="1221700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82%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491746" y="1928932"/>
            <a:ext cx="2160508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0548" y="2253972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Averaged across subjects on left- and right-hand motor imagery (2-class)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0548" y="2793802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180ms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553063" y="3501033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Latency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0548" y="3826073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EEG epoch end to robot joint command issuance via ROS 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0548" y="4365903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91%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418880" y="5073134"/>
            <a:ext cx="2306122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Command Success Rate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0548" y="5398175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arm motion executed per decoded intent in simulation trials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0548" y="5938004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3553063" y="6645235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Motion Classes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0548" y="6970276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Left, right, grasp, and rest — covering the primary assistive interaction tasks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0548" y="7326154"/>
            <a:ext cx="8002905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demonstrate that the CSP + SVM pipeline achieves </a:t>
            </a:r>
            <a:r>
              <a:rPr lang="en-US" sz="12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clinically viable accuracy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latencies well within the 300 ms real-time threshold established in assistive BCI literature.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3599"/>
            <a:ext cx="68100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49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0588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1013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132534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a full EEG-to-robot pipeline using motor imagery with 82% classification accuracy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3119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8860" y="435447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4385667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in simulation (Gazebo/PyBullet) with ROS 2 integration, achieving 91% command success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5651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860" y="56076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530906" y="5638800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SVM viability as a lightweight, interpretable classifier for real-time BCI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36168" y="2222540"/>
            <a:ext cx="6571417" cy="4833461"/>
          </a:xfrm>
          <a:prstGeom prst="roundRect">
            <a:avLst>
              <a:gd name="adj" fmla="val 3379"/>
            </a:avLst>
          </a:prstGeom>
          <a:solidFill>
            <a:srgbClr val="66A8EE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662982" y="2449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3030498"/>
            <a:ext cx="6117788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hardware deployment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a physical 6-DOF robotic arm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Subject-adaptive models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transfer learning to reduce calibration time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command set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multi-class MI (feet, tongue) for richer control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BCI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fusing EEG with EMG for redundancy and robustness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Closed-loop feedback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haptic or visual confirmation for user confidence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889</Words>
  <Application>Microsoft Office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lastModifiedBy>Papiha Dhavan</cp:lastModifiedBy>
  <cp:revision>1</cp:revision>
  <dcterms:created xsi:type="dcterms:W3CDTF">2026-04-24T10:03:09Z</dcterms:created>
  <dcterms:modified xsi:type="dcterms:W3CDTF">2026-04-24T04:41:10Z</dcterms:modified>
</cp:coreProperties>
</file>